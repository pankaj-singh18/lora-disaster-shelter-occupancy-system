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</p:sldIdLst>
  <p:sldSz cx="18288000" cy="10287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-19313"/>
            <a:ext cx="18288000" cy="2096026"/>
            <a:chOff x="0" y="0"/>
            <a:chExt cx="4816593" cy="5520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552040"/>
            </a:xfrm>
            <a:custGeom>
              <a:avLst/>
              <a:gdLst/>
              <a:ahLst/>
              <a:cxnLst/>
              <a:rect l="l" t="t" r="r" b="b"/>
              <a:pathLst>
                <a:path w="4816592" h="552040">
                  <a:moveTo>
                    <a:pt x="0" y="0"/>
                  </a:moveTo>
                  <a:lnTo>
                    <a:pt x="4816592" y="0"/>
                  </a:lnTo>
                  <a:lnTo>
                    <a:pt x="4816592" y="552040"/>
                  </a:lnTo>
                  <a:lnTo>
                    <a:pt x="0" y="552040"/>
                  </a:lnTo>
                  <a:close/>
                </a:path>
              </a:pathLst>
            </a:custGeom>
            <a:solidFill>
              <a:srgbClr val="0063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16593" cy="590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2400" y="9617322"/>
            <a:ext cx="18288000" cy="669678"/>
            <a:chOff x="0" y="0"/>
            <a:chExt cx="4816593" cy="17637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16592" cy="176376"/>
            </a:xfrm>
            <a:custGeom>
              <a:avLst/>
              <a:gdLst/>
              <a:ahLst/>
              <a:cxnLst/>
              <a:rect l="l" t="t" r="r" b="b"/>
              <a:pathLst>
                <a:path w="4816592" h="176376">
                  <a:moveTo>
                    <a:pt x="0" y="0"/>
                  </a:moveTo>
                  <a:lnTo>
                    <a:pt x="4816592" y="0"/>
                  </a:lnTo>
                  <a:lnTo>
                    <a:pt x="4816592" y="176376"/>
                  </a:lnTo>
                  <a:lnTo>
                    <a:pt x="0" y="176376"/>
                  </a:lnTo>
                  <a:close/>
                </a:path>
              </a:pathLst>
            </a:custGeom>
            <a:solidFill>
              <a:srgbClr val="0063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16593" cy="214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655390" y="9617322"/>
            <a:ext cx="1334649" cy="663401"/>
          </a:xfrm>
          <a:custGeom>
            <a:avLst/>
            <a:gdLst/>
            <a:ahLst/>
            <a:cxnLst/>
            <a:rect l="l" t="t" r="r" b="b"/>
            <a:pathLst>
              <a:path w="1334649" h="663401">
                <a:moveTo>
                  <a:pt x="0" y="0"/>
                </a:moveTo>
                <a:lnTo>
                  <a:pt x="1334650" y="0"/>
                </a:lnTo>
                <a:lnTo>
                  <a:pt x="1334650" y="663400"/>
                </a:lnTo>
                <a:lnTo>
                  <a:pt x="0" y="663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7246" b="-5393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328676" y="2616614"/>
            <a:ext cx="9763125" cy="2719150"/>
            <a:chOff x="0" y="-104775"/>
            <a:chExt cx="13017500" cy="3625534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793875"/>
              <a:ext cx="13017500" cy="1726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99"/>
                </a:lnSpc>
              </a:pPr>
              <a:endParaRPr lang="en-US" sz="9999" spc="-299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13017500" cy="5772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endParaRPr lang="en-US" sz="2600" dirty="0">
                <a:solidFill>
                  <a:srgbClr val="1F7757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15295" y="6891353"/>
            <a:ext cx="8610600" cy="27591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40"/>
              </a:lnSpc>
            </a:pPr>
            <a:r>
              <a:rPr lang="en-IN" sz="2800" b="1" dirty="0"/>
              <a:t>Team WATT</a:t>
            </a:r>
            <a:br>
              <a:rPr lang="en-IN" sz="2800" dirty="0"/>
            </a:br>
            <a:r>
              <a:rPr lang="en-IN" sz="2800" dirty="0"/>
              <a:t>Pankaj Singh </a:t>
            </a:r>
          </a:p>
          <a:p>
            <a:pPr>
              <a:lnSpc>
                <a:spcPts val="3640"/>
              </a:lnSpc>
            </a:pPr>
            <a:r>
              <a:rPr lang="en-IN" sz="2800" dirty="0"/>
              <a:t> K. Nithesh Kumar </a:t>
            </a:r>
          </a:p>
          <a:p>
            <a:pPr>
              <a:lnSpc>
                <a:spcPts val="3640"/>
              </a:lnSpc>
            </a:pPr>
            <a:r>
              <a:rPr lang="en-IN" sz="2800" dirty="0"/>
              <a:t>Ram Prasad </a:t>
            </a:r>
          </a:p>
          <a:p>
            <a:pPr>
              <a:lnSpc>
                <a:spcPts val="3640"/>
              </a:lnSpc>
            </a:pPr>
            <a:r>
              <a:rPr lang="en-IN" sz="2800" dirty="0"/>
              <a:t> Prisca Jean</a:t>
            </a:r>
            <a:br>
              <a:rPr lang="en-IN" sz="2800" dirty="0"/>
            </a:br>
            <a:endParaRPr lang="en-US" sz="2600" dirty="0">
              <a:solidFill>
                <a:srgbClr val="000000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CC326A-6DB7-4AD3-6377-1EB1FC806883}"/>
              </a:ext>
            </a:extLst>
          </p:cNvPr>
          <p:cNvSpPr txBox="1"/>
          <p:nvPr/>
        </p:nvSpPr>
        <p:spPr>
          <a:xfrm>
            <a:off x="328677" y="2430697"/>
            <a:ext cx="1232052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b="1" dirty="0">
                <a:solidFill>
                  <a:srgbClr val="FF0000"/>
                </a:solidFill>
              </a:rPr>
              <a:t>Disaster-Resilient Shelter Management System</a:t>
            </a:r>
            <a:br>
              <a:rPr lang="en-IN" sz="5400" dirty="0">
                <a:solidFill>
                  <a:srgbClr val="FF0000"/>
                </a:solidFill>
              </a:rPr>
            </a:br>
            <a:r>
              <a:rPr lang="en-US" sz="5400" dirty="0">
                <a:solidFill>
                  <a:srgbClr val="92D050"/>
                </a:solidFill>
              </a:rPr>
              <a:t>Smart Disaster Shelter Entry &amp; Capacity Monitoring System</a:t>
            </a:r>
            <a:endParaRPr lang="en-IN" sz="5400" dirty="0">
              <a:solidFill>
                <a:srgbClr val="92D05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F371D6-C3FC-D97C-6BA6-EF18B4ECF679}"/>
              </a:ext>
            </a:extLst>
          </p:cNvPr>
          <p:cNvSpPr txBox="1"/>
          <p:nvPr/>
        </p:nvSpPr>
        <p:spPr>
          <a:xfrm>
            <a:off x="3200400" y="1071546"/>
            <a:ext cx="1345499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solidFill>
                  <a:schemeClr val="bg1"/>
                </a:solidFill>
              </a:rPr>
              <a:t>Domain: Embedded Systems | IoT | Disaster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8048854" y="752281"/>
            <a:ext cx="2190291" cy="809819"/>
            <a:chOff x="0" y="0"/>
            <a:chExt cx="2920388" cy="10797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8575" y="-163974"/>
            <a:ext cx="18288000" cy="2240687"/>
            <a:chOff x="0" y="-38100"/>
            <a:chExt cx="4816593" cy="5901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16592" cy="552040"/>
            </a:xfrm>
            <a:custGeom>
              <a:avLst/>
              <a:gdLst/>
              <a:ahLst/>
              <a:cxnLst/>
              <a:rect l="l" t="t" r="r" b="b"/>
              <a:pathLst>
                <a:path w="4816592" h="552040">
                  <a:moveTo>
                    <a:pt x="0" y="0"/>
                  </a:moveTo>
                  <a:lnTo>
                    <a:pt x="4816592" y="0"/>
                  </a:lnTo>
                  <a:lnTo>
                    <a:pt x="4816592" y="552040"/>
                  </a:lnTo>
                  <a:lnTo>
                    <a:pt x="0" y="552040"/>
                  </a:lnTo>
                  <a:close/>
                </a:path>
              </a:pathLst>
            </a:custGeom>
            <a:solidFill>
              <a:srgbClr val="0063B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816593" cy="590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0" y="9617322"/>
            <a:ext cx="18288000" cy="669678"/>
            <a:chOff x="0" y="0"/>
            <a:chExt cx="4816593" cy="17637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16592" cy="176376"/>
            </a:xfrm>
            <a:custGeom>
              <a:avLst/>
              <a:gdLst/>
              <a:ahLst/>
              <a:cxnLst/>
              <a:rect l="l" t="t" r="r" b="b"/>
              <a:pathLst>
                <a:path w="4816592" h="176376">
                  <a:moveTo>
                    <a:pt x="0" y="0"/>
                  </a:moveTo>
                  <a:lnTo>
                    <a:pt x="4816592" y="0"/>
                  </a:lnTo>
                  <a:lnTo>
                    <a:pt x="4816592" y="176376"/>
                  </a:lnTo>
                  <a:lnTo>
                    <a:pt x="0" y="176376"/>
                  </a:lnTo>
                  <a:close/>
                </a:path>
              </a:pathLst>
            </a:custGeom>
            <a:solidFill>
              <a:srgbClr val="0063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816593" cy="214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6655390" y="9341478"/>
            <a:ext cx="1334649" cy="1189760"/>
          </a:xfrm>
          <a:custGeom>
            <a:avLst/>
            <a:gdLst/>
            <a:ahLst/>
            <a:cxnLst/>
            <a:rect l="l" t="t" r="r" b="b"/>
            <a:pathLst>
              <a:path w="1334649" h="1189760">
                <a:moveTo>
                  <a:pt x="0" y="0"/>
                </a:moveTo>
                <a:lnTo>
                  <a:pt x="1334650" y="0"/>
                </a:lnTo>
                <a:lnTo>
                  <a:pt x="1334650" y="1189760"/>
                </a:lnTo>
                <a:lnTo>
                  <a:pt x="0" y="1189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088" b="-60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A9130C-C109-3026-A731-B778D8F6E620}"/>
              </a:ext>
            </a:extLst>
          </p:cNvPr>
          <p:cNvSpPr txBox="1"/>
          <p:nvPr/>
        </p:nvSpPr>
        <p:spPr>
          <a:xfrm>
            <a:off x="270419" y="2366880"/>
            <a:ext cx="91560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Initial Problem Understanding</a:t>
            </a:r>
            <a:endParaRPr lang="en-IN" sz="3600" b="1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AD76805A-4792-4EC3-A72F-0DD8FC29E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871" y="3620133"/>
            <a:ext cx="8591127" cy="4875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During disasters: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/>
              <a:t>Internet &amp; cellular networks may fail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Shelters get overcrowded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Manual counting becomes unreliable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/>
              <a:t>Volunteers lack real-time capacity awareness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C5C652-E771-7818-4C34-9FEF79816797}"/>
              </a:ext>
            </a:extLst>
          </p:cNvPr>
          <p:cNvCxnSpPr>
            <a:stCxn id="19" idx="3"/>
          </p:cNvCxnSpPr>
          <p:nvPr/>
        </p:nvCxnSpPr>
        <p:spPr>
          <a:xfrm>
            <a:off x="9426449" y="2690046"/>
            <a:ext cx="122460" cy="6122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DC8DF63-D599-28B1-E4C6-B002506B841D}"/>
              </a:ext>
            </a:extLst>
          </p:cNvPr>
          <p:cNvSpPr txBox="1"/>
          <p:nvPr/>
        </p:nvSpPr>
        <p:spPr>
          <a:xfrm>
            <a:off x="9831360" y="2366880"/>
            <a:ext cx="7384022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Feedback from Previous Review</a:t>
            </a:r>
          </a:p>
          <a:p>
            <a:pPr>
              <a:buNone/>
            </a:pPr>
            <a:endParaRPr lang="en-IN" sz="3600" b="1" dirty="0"/>
          </a:p>
          <a:p>
            <a:pPr marL="571500" indent="-5715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3600" dirty="0"/>
              <a:t>Avoid over-complex sensing</a:t>
            </a:r>
          </a:p>
          <a:p>
            <a:pPr marL="571500" indent="-5715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Focus on robustness, not perfect accuracy</a:t>
            </a:r>
          </a:p>
          <a:p>
            <a:pPr marL="571500" indent="-5715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Consider real-world noise &amp; false detections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IN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AF05F3-79A2-B814-77EB-D0739E52FA4A}"/>
              </a:ext>
            </a:extLst>
          </p:cNvPr>
          <p:cNvSpPr txBox="1"/>
          <p:nvPr/>
        </p:nvSpPr>
        <p:spPr>
          <a:xfrm>
            <a:off x="147484" y="557025"/>
            <a:ext cx="106474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chemeClr val="bg1"/>
                </a:solidFill>
              </a:rPr>
              <a:t>PROBLEM REFINEMENT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38872-9AEE-6C59-AF08-3C51EB375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2CB4287A-159E-9EF8-3D5F-E66F37B59A34}"/>
              </a:ext>
            </a:extLst>
          </p:cNvPr>
          <p:cNvGrpSpPr/>
          <p:nvPr/>
        </p:nvGrpSpPr>
        <p:grpSpPr>
          <a:xfrm>
            <a:off x="8048854" y="752281"/>
            <a:ext cx="2190291" cy="809819"/>
            <a:chOff x="0" y="0"/>
            <a:chExt cx="2920388" cy="107975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A3AC1D2-765F-E869-EB2A-3FC98DF1D750}"/>
                </a:ext>
              </a:extLst>
            </p:cNvPr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CB8CFCD-B525-FFB4-C0DD-CE0C0EBE135F}"/>
                </a:ext>
              </a:extLst>
            </p:cNvPr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1C9F4BC-8889-C85B-CDF7-63F4C176E7C7}"/>
                </a:ext>
              </a:extLst>
            </p:cNvPr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5D28239D-42E0-34DE-60E6-691A981556DD}"/>
              </a:ext>
            </a:extLst>
          </p:cNvPr>
          <p:cNvGrpSpPr/>
          <p:nvPr/>
        </p:nvGrpSpPr>
        <p:grpSpPr>
          <a:xfrm>
            <a:off x="28575" y="-163974"/>
            <a:ext cx="18288000" cy="2240687"/>
            <a:chOff x="0" y="-38100"/>
            <a:chExt cx="4816593" cy="59014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BBE9E51-1F20-89F4-8550-0F61BC613E55}"/>
                </a:ext>
              </a:extLst>
            </p:cNvPr>
            <p:cNvSpPr/>
            <p:nvPr/>
          </p:nvSpPr>
          <p:spPr>
            <a:xfrm>
              <a:off x="0" y="0"/>
              <a:ext cx="4816592" cy="552040"/>
            </a:xfrm>
            <a:custGeom>
              <a:avLst/>
              <a:gdLst/>
              <a:ahLst/>
              <a:cxnLst/>
              <a:rect l="l" t="t" r="r" b="b"/>
              <a:pathLst>
                <a:path w="4816592" h="552040">
                  <a:moveTo>
                    <a:pt x="0" y="0"/>
                  </a:moveTo>
                  <a:lnTo>
                    <a:pt x="4816592" y="0"/>
                  </a:lnTo>
                  <a:lnTo>
                    <a:pt x="4816592" y="552040"/>
                  </a:lnTo>
                  <a:lnTo>
                    <a:pt x="0" y="552040"/>
                  </a:lnTo>
                  <a:close/>
                </a:path>
              </a:pathLst>
            </a:custGeom>
            <a:solidFill>
              <a:srgbClr val="0063B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AC61344-E617-9F9C-5A85-EE08DF19F838}"/>
                </a:ext>
              </a:extLst>
            </p:cNvPr>
            <p:cNvSpPr txBox="1"/>
            <p:nvPr/>
          </p:nvSpPr>
          <p:spPr>
            <a:xfrm>
              <a:off x="0" y="-38100"/>
              <a:ext cx="4816593" cy="590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A80A250C-51E7-C15A-DE40-E015BBDB2F1D}"/>
              </a:ext>
            </a:extLst>
          </p:cNvPr>
          <p:cNvGrpSpPr/>
          <p:nvPr/>
        </p:nvGrpSpPr>
        <p:grpSpPr>
          <a:xfrm>
            <a:off x="0" y="9617322"/>
            <a:ext cx="18288000" cy="669678"/>
            <a:chOff x="0" y="0"/>
            <a:chExt cx="4816593" cy="176376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8EF353B3-FAAF-4E16-49BE-937F879164FC}"/>
                </a:ext>
              </a:extLst>
            </p:cNvPr>
            <p:cNvSpPr/>
            <p:nvPr/>
          </p:nvSpPr>
          <p:spPr>
            <a:xfrm>
              <a:off x="0" y="0"/>
              <a:ext cx="4816592" cy="176376"/>
            </a:xfrm>
            <a:custGeom>
              <a:avLst/>
              <a:gdLst/>
              <a:ahLst/>
              <a:cxnLst/>
              <a:rect l="l" t="t" r="r" b="b"/>
              <a:pathLst>
                <a:path w="4816592" h="176376">
                  <a:moveTo>
                    <a:pt x="0" y="0"/>
                  </a:moveTo>
                  <a:lnTo>
                    <a:pt x="4816592" y="0"/>
                  </a:lnTo>
                  <a:lnTo>
                    <a:pt x="4816592" y="176376"/>
                  </a:lnTo>
                  <a:lnTo>
                    <a:pt x="0" y="176376"/>
                  </a:lnTo>
                  <a:close/>
                </a:path>
              </a:pathLst>
            </a:custGeom>
            <a:solidFill>
              <a:srgbClr val="0063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FAF9791B-08DD-2727-D96B-814E32E97D70}"/>
                </a:ext>
              </a:extLst>
            </p:cNvPr>
            <p:cNvSpPr txBox="1"/>
            <p:nvPr/>
          </p:nvSpPr>
          <p:spPr>
            <a:xfrm>
              <a:off x="0" y="-38100"/>
              <a:ext cx="4816593" cy="214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A504FE80-6693-85E9-5D65-2E56821C5B53}"/>
              </a:ext>
            </a:extLst>
          </p:cNvPr>
          <p:cNvSpPr/>
          <p:nvPr/>
        </p:nvSpPr>
        <p:spPr>
          <a:xfrm>
            <a:off x="16655390" y="9341478"/>
            <a:ext cx="1334649" cy="1189760"/>
          </a:xfrm>
          <a:custGeom>
            <a:avLst/>
            <a:gdLst/>
            <a:ahLst/>
            <a:cxnLst/>
            <a:rect l="l" t="t" r="r" b="b"/>
            <a:pathLst>
              <a:path w="1334649" h="1189760">
                <a:moveTo>
                  <a:pt x="0" y="0"/>
                </a:moveTo>
                <a:lnTo>
                  <a:pt x="1334650" y="0"/>
                </a:lnTo>
                <a:lnTo>
                  <a:pt x="1334650" y="1189760"/>
                </a:lnTo>
                <a:lnTo>
                  <a:pt x="0" y="1189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088" b="-60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449CB2-66F1-3A04-5375-5467C5BBE94F}"/>
              </a:ext>
            </a:extLst>
          </p:cNvPr>
          <p:cNvSpPr txBox="1"/>
          <p:nvPr/>
        </p:nvSpPr>
        <p:spPr>
          <a:xfrm>
            <a:off x="270419" y="2366880"/>
            <a:ext cx="91560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Earlier Approach (Discarded)</a:t>
            </a:r>
            <a:endParaRPr lang="en-IN" sz="3600" b="1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E0A19AE7-5719-B1BA-1E67-7680D4C24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871" y="3620133"/>
            <a:ext cx="8591127" cy="4875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Estimating: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/>
              <a:t>People sitting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Standing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Sleeping under beds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/>
              <a:t>Sensing inside the shelter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23B2AEF-A062-587E-0949-7139DDC0D67B}"/>
              </a:ext>
            </a:extLst>
          </p:cNvPr>
          <p:cNvCxnSpPr>
            <a:stCxn id="19" idx="3"/>
          </p:cNvCxnSpPr>
          <p:nvPr/>
        </p:nvCxnSpPr>
        <p:spPr>
          <a:xfrm>
            <a:off x="9426449" y="2690046"/>
            <a:ext cx="122460" cy="6122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0C4E8D9-1EB6-BD87-8733-1E1B16197CFA}"/>
              </a:ext>
            </a:extLst>
          </p:cNvPr>
          <p:cNvSpPr txBox="1"/>
          <p:nvPr/>
        </p:nvSpPr>
        <p:spPr>
          <a:xfrm>
            <a:off x="9831360" y="2366880"/>
            <a:ext cx="7384022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Problems Identified</a:t>
            </a:r>
          </a:p>
          <a:p>
            <a:pPr>
              <a:buNone/>
            </a:pPr>
            <a:endParaRPr lang="en-IN" sz="3600" b="1" dirty="0"/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3600" dirty="0"/>
              <a:t>Need sensors on each bed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3600" dirty="0"/>
              <a:t>Or rotating sensors using servo motors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/>
              <a:t>People sitting at: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IN" sz="3600" dirty="0"/>
              <a:t>Different corners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IN" sz="3600" dirty="0"/>
              <a:t>Different angles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/>
              <a:t>Apparent length &amp; occlusion issues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IN" sz="3600" dirty="0"/>
              <a:t>Becomes research-heavy &amp; impractical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F8EE4E-9F50-D943-E40D-2E21B6E01A8B}"/>
              </a:ext>
            </a:extLst>
          </p:cNvPr>
          <p:cNvSpPr txBox="1"/>
          <p:nvPr/>
        </p:nvSpPr>
        <p:spPr>
          <a:xfrm>
            <a:off x="147484" y="557025"/>
            <a:ext cx="163707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EARLIER IDEA &amp; WHY WE DROPPED IT</a:t>
            </a:r>
            <a:endParaRPr lang="en-IN" sz="7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436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E9E17-72AF-AAA9-E974-13EC4E043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15DA21CF-00ED-EE32-B418-226078845639}"/>
              </a:ext>
            </a:extLst>
          </p:cNvPr>
          <p:cNvGrpSpPr/>
          <p:nvPr/>
        </p:nvGrpSpPr>
        <p:grpSpPr>
          <a:xfrm>
            <a:off x="8048854" y="752281"/>
            <a:ext cx="2190291" cy="809819"/>
            <a:chOff x="0" y="0"/>
            <a:chExt cx="2920388" cy="107975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6EEA290-0E0B-F21F-44A3-A1F7CE1159A3}"/>
                </a:ext>
              </a:extLst>
            </p:cNvPr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0A1B571-D205-021F-E0BC-BE481E8BC787}"/>
                </a:ext>
              </a:extLst>
            </p:cNvPr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E749F4AE-6BC0-7778-B5C0-6D7A264E2EE7}"/>
                </a:ext>
              </a:extLst>
            </p:cNvPr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A8D74FA-67BC-A601-428D-3BDA8F0B2D72}"/>
              </a:ext>
            </a:extLst>
          </p:cNvPr>
          <p:cNvGrpSpPr/>
          <p:nvPr/>
        </p:nvGrpSpPr>
        <p:grpSpPr>
          <a:xfrm>
            <a:off x="28575" y="-163974"/>
            <a:ext cx="18288000" cy="2240687"/>
            <a:chOff x="0" y="-38100"/>
            <a:chExt cx="4816593" cy="59014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4CD78EA-BCFB-D936-0F1D-C9190FFD6843}"/>
                </a:ext>
              </a:extLst>
            </p:cNvPr>
            <p:cNvSpPr/>
            <p:nvPr/>
          </p:nvSpPr>
          <p:spPr>
            <a:xfrm>
              <a:off x="0" y="0"/>
              <a:ext cx="4816592" cy="552040"/>
            </a:xfrm>
            <a:custGeom>
              <a:avLst/>
              <a:gdLst/>
              <a:ahLst/>
              <a:cxnLst/>
              <a:rect l="l" t="t" r="r" b="b"/>
              <a:pathLst>
                <a:path w="4816592" h="552040">
                  <a:moveTo>
                    <a:pt x="0" y="0"/>
                  </a:moveTo>
                  <a:lnTo>
                    <a:pt x="4816592" y="0"/>
                  </a:lnTo>
                  <a:lnTo>
                    <a:pt x="4816592" y="552040"/>
                  </a:lnTo>
                  <a:lnTo>
                    <a:pt x="0" y="552040"/>
                  </a:lnTo>
                  <a:close/>
                </a:path>
              </a:pathLst>
            </a:custGeom>
            <a:solidFill>
              <a:srgbClr val="0063B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77612FD2-582C-F2FF-46E6-E22083D46D58}"/>
                </a:ext>
              </a:extLst>
            </p:cNvPr>
            <p:cNvSpPr txBox="1"/>
            <p:nvPr/>
          </p:nvSpPr>
          <p:spPr>
            <a:xfrm>
              <a:off x="0" y="-38100"/>
              <a:ext cx="4816593" cy="590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592F6B70-EC3A-211B-A930-3E93C457BAFE}"/>
              </a:ext>
            </a:extLst>
          </p:cNvPr>
          <p:cNvGrpSpPr/>
          <p:nvPr/>
        </p:nvGrpSpPr>
        <p:grpSpPr>
          <a:xfrm>
            <a:off x="0" y="9617322"/>
            <a:ext cx="18288000" cy="669678"/>
            <a:chOff x="0" y="0"/>
            <a:chExt cx="4816593" cy="176376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FB06CB5-C25D-C4E1-4151-3F8962F4893F}"/>
                </a:ext>
              </a:extLst>
            </p:cNvPr>
            <p:cNvSpPr/>
            <p:nvPr/>
          </p:nvSpPr>
          <p:spPr>
            <a:xfrm>
              <a:off x="0" y="0"/>
              <a:ext cx="4816592" cy="176376"/>
            </a:xfrm>
            <a:custGeom>
              <a:avLst/>
              <a:gdLst/>
              <a:ahLst/>
              <a:cxnLst/>
              <a:rect l="l" t="t" r="r" b="b"/>
              <a:pathLst>
                <a:path w="4816592" h="176376">
                  <a:moveTo>
                    <a:pt x="0" y="0"/>
                  </a:moveTo>
                  <a:lnTo>
                    <a:pt x="4816592" y="0"/>
                  </a:lnTo>
                  <a:lnTo>
                    <a:pt x="4816592" y="176376"/>
                  </a:lnTo>
                  <a:lnTo>
                    <a:pt x="0" y="176376"/>
                  </a:lnTo>
                  <a:close/>
                </a:path>
              </a:pathLst>
            </a:custGeom>
            <a:solidFill>
              <a:srgbClr val="0063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8600BDB1-1DE7-D9E5-1A7D-90DA2D3DBCCD}"/>
                </a:ext>
              </a:extLst>
            </p:cNvPr>
            <p:cNvSpPr txBox="1"/>
            <p:nvPr/>
          </p:nvSpPr>
          <p:spPr>
            <a:xfrm>
              <a:off x="0" y="-38100"/>
              <a:ext cx="4816593" cy="214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449D2405-4EBD-0124-7090-B9EA60455A88}"/>
              </a:ext>
            </a:extLst>
          </p:cNvPr>
          <p:cNvSpPr/>
          <p:nvPr/>
        </p:nvSpPr>
        <p:spPr>
          <a:xfrm>
            <a:off x="16655390" y="9341478"/>
            <a:ext cx="1334649" cy="1189760"/>
          </a:xfrm>
          <a:custGeom>
            <a:avLst/>
            <a:gdLst/>
            <a:ahLst/>
            <a:cxnLst/>
            <a:rect l="l" t="t" r="r" b="b"/>
            <a:pathLst>
              <a:path w="1334649" h="1189760">
                <a:moveTo>
                  <a:pt x="0" y="0"/>
                </a:moveTo>
                <a:lnTo>
                  <a:pt x="1334650" y="0"/>
                </a:lnTo>
                <a:lnTo>
                  <a:pt x="1334650" y="1189760"/>
                </a:lnTo>
                <a:lnTo>
                  <a:pt x="0" y="1189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088" b="-60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FB09C3-498B-185D-C095-6D1F572F378A}"/>
              </a:ext>
            </a:extLst>
          </p:cNvPr>
          <p:cNvSpPr txBox="1"/>
          <p:nvPr/>
        </p:nvSpPr>
        <p:spPr>
          <a:xfrm>
            <a:off x="270419" y="2366880"/>
            <a:ext cx="91560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Shelter Entrance-Based Detection</a:t>
            </a:r>
            <a:endParaRPr lang="en-IN" sz="3600" b="1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595FD5EB-79D7-35F1-60A9-6DF4F0EC5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871" y="4112577"/>
            <a:ext cx="8591127" cy="3890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/>
              <a:t>Count people entering, not occupancy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One sensing point → entrance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Maintain shelter capacity state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Communicate wirelessly using LoRa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EF3B053-2D51-3385-5EF1-9E956E01665D}"/>
              </a:ext>
            </a:extLst>
          </p:cNvPr>
          <p:cNvCxnSpPr>
            <a:stCxn id="19" idx="3"/>
          </p:cNvCxnSpPr>
          <p:nvPr/>
        </p:nvCxnSpPr>
        <p:spPr>
          <a:xfrm>
            <a:off x="9426449" y="2690046"/>
            <a:ext cx="122460" cy="6122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914DAD0-BCD3-70C3-7521-71F8E23A005E}"/>
              </a:ext>
            </a:extLst>
          </p:cNvPr>
          <p:cNvSpPr txBox="1"/>
          <p:nvPr/>
        </p:nvSpPr>
        <p:spPr>
          <a:xfrm>
            <a:off x="9831360" y="2366880"/>
            <a:ext cx="7384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Why Entrance Detection?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C0D80F-EFD0-D320-A5B8-B6EEE6B182F3}"/>
              </a:ext>
            </a:extLst>
          </p:cNvPr>
          <p:cNvSpPr txBox="1"/>
          <p:nvPr/>
        </p:nvSpPr>
        <p:spPr>
          <a:xfrm>
            <a:off x="147484" y="557025"/>
            <a:ext cx="163707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FINAL REFINED IDEA</a:t>
            </a:r>
            <a:endParaRPr lang="en-IN" sz="7200" dirty="0">
              <a:solidFill>
                <a:schemeClr val="bg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DF94C08-3E10-2BC0-A347-FC030177D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3812" y="4092841"/>
            <a:ext cx="8591127" cy="3890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Single controlled point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/>
              <a:t>No ambiguity of sitting/standing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/>
              <a:t>No need for bed-level sensors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Easier to scale &amp; deploy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861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17945-9307-EC16-9DC2-EA86DFF36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DD06D630-3120-1A2F-4A70-75A2AE3672C4}"/>
              </a:ext>
            </a:extLst>
          </p:cNvPr>
          <p:cNvGrpSpPr/>
          <p:nvPr/>
        </p:nvGrpSpPr>
        <p:grpSpPr>
          <a:xfrm>
            <a:off x="8048854" y="752281"/>
            <a:ext cx="2190291" cy="809819"/>
            <a:chOff x="0" y="0"/>
            <a:chExt cx="2920388" cy="107975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B87F96F-8875-22C1-541E-750A782E0BD7}"/>
                </a:ext>
              </a:extLst>
            </p:cNvPr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572F5B9-00F3-FC90-6CB4-9739EBDFE671}"/>
                </a:ext>
              </a:extLst>
            </p:cNvPr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541EA4D-2CF1-3050-F31A-762FBFDA9894}"/>
                </a:ext>
              </a:extLst>
            </p:cNvPr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025A18A6-461B-A458-3C7C-CF615504795C}"/>
              </a:ext>
            </a:extLst>
          </p:cNvPr>
          <p:cNvGrpSpPr/>
          <p:nvPr/>
        </p:nvGrpSpPr>
        <p:grpSpPr>
          <a:xfrm>
            <a:off x="28575" y="-163974"/>
            <a:ext cx="18288000" cy="2240687"/>
            <a:chOff x="0" y="-38100"/>
            <a:chExt cx="4816593" cy="59014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8230A34-21B5-29BA-2B62-7CB7F4BEF661}"/>
                </a:ext>
              </a:extLst>
            </p:cNvPr>
            <p:cNvSpPr/>
            <p:nvPr/>
          </p:nvSpPr>
          <p:spPr>
            <a:xfrm>
              <a:off x="0" y="0"/>
              <a:ext cx="4816592" cy="552040"/>
            </a:xfrm>
            <a:custGeom>
              <a:avLst/>
              <a:gdLst/>
              <a:ahLst/>
              <a:cxnLst/>
              <a:rect l="l" t="t" r="r" b="b"/>
              <a:pathLst>
                <a:path w="4816592" h="552040">
                  <a:moveTo>
                    <a:pt x="0" y="0"/>
                  </a:moveTo>
                  <a:lnTo>
                    <a:pt x="4816592" y="0"/>
                  </a:lnTo>
                  <a:lnTo>
                    <a:pt x="4816592" y="552040"/>
                  </a:lnTo>
                  <a:lnTo>
                    <a:pt x="0" y="552040"/>
                  </a:lnTo>
                  <a:close/>
                </a:path>
              </a:pathLst>
            </a:custGeom>
            <a:solidFill>
              <a:srgbClr val="0063B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5825541-F8B9-E79A-69C1-5B68E0EC92BC}"/>
                </a:ext>
              </a:extLst>
            </p:cNvPr>
            <p:cNvSpPr txBox="1"/>
            <p:nvPr/>
          </p:nvSpPr>
          <p:spPr>
            <a:xfrm>
              <a:off x="0" y="-38100"/>
              <a:ext cx="4816593" cy="590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7C9757FE-A7C3-800F-FC4B-6FAC368BEE5F}"/>
              </a:ext>
            </a:extLst>
          </p:cNvPr>
          <p:cNvGrpSpPr/>
          <p:nvPr/>
        </p:nvGrpSpPr>
        <p:grpSpPr>
          <a:xfrm>
            <a:off x="0" y="9617322"/>
            <a:ext cx="18288000" cy="669678"/>
            <a:chOff x="0" y="0"/>
            <a:chExt cx="4816593" cy="176376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3E4F14C-6F21-0F5E-0A8E-D9F79F5DAF0D}"/>
                </a:ext>
              </a:extLst>
            </p:cNvPr>
            <p:cNvSpPr/>
            <p:nvPr/>
          </p:nvSpPr>
          <p:spPr>
            <a:xfrm>
              <a:off x="0" y="0"/>
              <a:ext cx="4816592" cy="176376"/>
            </a:xfrm>
            <a:custGeom>
              <a:avLst/>
              <a:gdLst/>
              <a:ahLst/>
              <a:cxnLst/>
              <a:rect l="l" t="t" r="r" b="b"/>
              <a:pathLst>
                <a:path w="4816592" h="176376">
                  <a:moveTo>
                    <a:pt x="0" y="0"/>
                  </a:moveTo>
                  <a:lnTo>
                    <a:pt x="4816592" y="0"/>
                  </a:lnTo>
                  <a:lnTo>
                    <a:pt x="4816592" y="176376"/>
                  </a:lnTo>
                  <a:lnTo>
                    <a:pt x="0" y="176376"/>
                  </a:lnTo>
                  <a:close/>
                </a:path>
              </a:pathLst>
            </a:custGeom>
            <a:solidFill>
              <a:srgbClr val="0063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D664EA51-35FB-4E76-09E9-4134906C7D52}"/>
                </a:ext>
              </a:extLst>
            </p:cNvPr>
            <p:cNvSpPr txBox="1"/>
            <p:nvPr/>
          </p:nvSpPr>
          <p:spPr>
            <a:xfrm>
              <a:off x="0" y="-38100"/>
              <a:ext cx="4816593" cy="214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BBFC56B9-DF39-96BA-9C81-32D0C5EB35FE}"/>
              </a:ext>
            </a:extLst>
          </p:cNvPr>
          <p:cNvSpPr/>
          <p:nvPr/>
        </p:nvSpPr>
        <p:spPr>
          <a:xfrm>
            <a:off x="16655390" y="9341478"/>
            <a:ext cx="1334649" cy="1189760"/>
          </a:xfrm>
          <a:custGeom>
            <a:avLst/>
            <a:gdLst/>
            <a:ahLst/>
            <a:cxnLst/>
            <a:rect l="l" t="t" r="r" b="b"/>
            <a:pathLst>
              <a:path w="1334649" h="1189760">
                <a:moveTo>
                  <a:pt x="0" y="0"/>
                </a:moveTo>
                <a:lnTo>
                  <a:pt x="1334650" y="0"/>
                </a:lnTo>
                <a:lnTo>
                  <a:pt x="1334650" y="1189760"/>
                </a:lnTo>
                <a:lnTo>
                  <a:pt x="0" y="1189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088" b="-60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29E3D5-67D7-7E36-4CB1-BE1FFC44FD78}"/>
              </a:ext>
            </a:extLst>
          </p:cNvPr>
          <p:cNvSpPr txBox="1"/>
          <p:nvPr/>
        </p:nvSpPr>
        <p:spPr>
          <a:xfrm>
            <a:off x="270419" y="2366880"/>
            <a:ext cx="91560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Sensors Considered</a:t>
            </a:r>
            <a:endParaRPr lang="en-IN" sz="3600" b="1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879520F6-B0C8-32A9-C88A-1C12FA23F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871" y="4112578"/>
            <a:ext cx="8591127" cy="3890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PIR Motion Sensor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IR Sensor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Ultrasonic Sensor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Load Cell (Weight sensor)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83E7301-0148-E83C-CE38-004250522508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9426449" y="2690046"/>
            <a:ext cx="122460" cy="6122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9E0886D-9AC7-1624-3037-93959170BFBE}"/>
              </a:ext>
            </a:extLst>
          </p:cNvPr>
          <p:cNvSpPr txBox="1"/>
          <p:nvPr/>
        </p:nvSpPr>
        <p:spPr>
          <a:xfrm>
            <a:off x="9831360" y="2366880"/>
            <a:ext cx="7384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Real-World Challenges Identified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936BD0-DC47-A283-6875-E90211C97F8A}"/>
              </a:ext>
            </a:extLst>
          </p:cNvPr>
          <p:cNvSpPr txBox="1"/>
          <p:nvPr/>
        </p:nvSpPr>
        <p:spPr>
          <a:xfrm>
            <a:off x="147484" y="557025"/>
            <a:ext cx="163707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SENSOR SELECTION &amp; DIFFICULTIES</a:t>
            </a:r>
            <a:endParaRPr lang="en-IN" sz="7200" dirty="0">
              <a:solidFill>
                <a:schemeClr val="bg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77B753F-263A-CDC7-6B30-BD7A4A67C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3812" y="3776092"/>
            <a:ext cx="859112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/>
              <a:t>PIR can falsely trigger due to: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Birds / animals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Sudden temperature changes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IR alone: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Detects objects, not humans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Ultrasonic: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Can misread reflections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Load cell: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/>
              <a:t>Can detect weight but not intent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800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34FFB-F92B-1BC9-EDDF-D25C150CE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4587E232-7C35-5A05-AF1E-4C6DCECF7EB8}"/>
              </a:ext>
            </a:extLst>
          </p:cNvPr>
          <p:cNvGrpSpPr/>
          <p:nvPr/>
        </p:nvGrpSpPr>
        <p:grpSpPr>
          <a:xfrm>
            <a:off x="8048854" y="752281"/>
            <a:ext cx="2190291" cy="809819"/>
            <a:chOff x="0" y="0"/>
            <a:chExt cx="2920388" cy="107975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CB0B85A-FB5B-B999-2F46-1B907D64166D}"/>
                </a:ext>
              </a:extLst>
            </p:cNvPr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D997B70-B7F2-7880-2697-EC49607D415C}"/>
                </a:ext>
              </a:extLst>
            </p:cNvPr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2DEF9A22-EF17-22C2-60E7-1203218456C8}"/>
                </a:ext>
              </a:extLst>
            </p:cNvPr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F1D5F92A-979B-AA24-06EB-277AF7350988}"/>
              </a:ext>
            </a:extLst>
          </p:cNvPr>
          <p:cNvGrpSpPr/>
          <p:nvPr/>
        </p:nvGrpSpPr>
        <p:grpSpPr>
          <a:xfrm>
            <a:off x="28575" y="-163974"/>
            <a:ext cx="18288000" cy="2240687"/>
            <a:chOff x="0" y="-38100"/>
            <a:chExt cx="4816593" cy="59014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65D4B92-C1D9-B030-ED86-039CC54F8CEC}"/>
                </a:ext>
              </a:extLst>
            </p:cNvPr>
            <p:cNvSpPr/>
            <p:nvPr/>
          </p:nvSpPr>
          <p:spPr>
            <a:xfrm>
              <a:off x="0" y="0"/>
              <a:ext cx="4816592" cy="552040"/>
            </a:xfrm>
            <a:custGeom>
              <a:avLst/>
              <a:gdLst/>
              <a:ahLst/>
              <a:cxnLst/>
              <a:rect l="l" t="t" r="r" b="b"/>
              <a:pathLst>
                <a:path w="4816592" h="552040">
                  <a:moveTo>
                    <a:pt x="0" y="0"/>
                  </a:moveTo>
                  <a:lnTo>
                    <a:pt x="4816592" y="0"/>
                  </a:lnTo>
                  <a:lnTo>
                    <a:pt x="4816592" y="552040"/>
                  </a:lnTo>
                  <a:lnTo>
                    <a:pt x="0" y="552040"/>
                  </a:lnTo>
                  <a:close/>
                </a:path>
              </a:pathLst>
            </a:custGeom>
            <a:solidFill>
              <a:srgbClr val="0063B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B5033AF-FBA4-04B2-8AA4-A7446D0CB9F9}"/>
                </a:ext>
              </a:extLst>
            </p:cNvPr>
            <p:cNvSpPr txBox="1"/>
            <p:nvPr/>
          </p:nvSpPr>
          <p:spPr>
            <a:xfrm>
              <a:off x="0" y="-38100"/>
              <a:ext cx="4816593" cy="590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522B5048-3E35-9FD0-55F7-E42ABCB7D6E6}"/>
              </a:ext>
            </a:extLst>
          </p:cNvPr>
          <p:cNvGrpSpPr/>
          <p:nvPr/>
        </p:nvGrpSpPr>
        <p:grpSpPr>
          <a:xfrm>
            <a:off x="0" y="9617322"/>
            <a:ext cx="18288000" cy="669678"/>
            <a:chOff x="0" y="0"/>
            <a:chExt cx="4816593" cy="176376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5973A436-C681-62E9-04A3-8173B1A20BE8}"/>
                </a:ext>
              </a:extLst>
            </p:cNvPr>
            <p:cNvSpPr/>
            <p:nvPr/>
          </p:nvSpPr>
          <p:spPr>
            <a:xfrm>
              <a:off x="0" y="0"/>
              <a:ext cx="4816592" cy="176376"/>
            </a:xfrm>
            <a:custGeom>
              <a:avLst/>
              <a:gdLst/>
              <a:ahLst/>
              <a:cxnLst/>
              <a:rect l="l" t="t" r="r" b="b"/>
              <a:pathLst>
                <a:path w="4816592" h="176376">
                  <a:moveTo>
                    <a:pt x="0" y="0"/>
                  </a:moveTo>
                  <a:lnTo>
                    <a:pt x="4816592" y="0"/>
                  </a:lnTo>
                  <a:lnTo>
                    <a:pt x="4816592" y="176376"/>
                  </a:lnTo>
                  <a:lnTo>
                    <a:pt x="0" y="176376"/>
                  </a:lnTo>
                  <a:close/>
                </a:path>
              </a:pathLst>
            </a:custGeom>
            <a:solidFill>
              <a:srgbClr val="0063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EC7B7835-FD7B-29C2-829B-CB85F372B39C}"/>
                </a:ext>
              </a:extLst>
            </p:cNvPr>
            <p:cNvSpPr txBox="1"/>
            <p:nvPr/>
          </p:nvSpPr>
          <p:spPr>
            <a:xfrm>
              <a:off x="0" y="-38100"/>
              <a:ext cx="4816593" cy="214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16C41545-1EEE-905B-9B4B-68538F38D350}"/>
              </a:ext>
            </a:extLst>
          </p:cNvPr>
          <p:cNvSpPr/>
          <p:nvPr/>
        </p:nvSpPr>
        <p:spPr>
          <a:xfrm>
            <a:off x="16655390" y="9341478"/>
            <a:ext cx="1334649" cy="1189760"/>
          </a:xfrm>
          <a:custGeom>
            <a:avLst/>
            <a:gdLst/>
            <a:ahLst/>
            <a:cxnLst/>
            <a:rect l="l" t="t" r="r" b="b"/>
            <a:pathLst>
              <a:path w="1334649" h="1189760">
                <a:moveTo>
                  <a:pt x="0" y="0"/>
                </a:moveTo>
                <a:lnTo>
                  <a:pt x="1334650" y="0"/>
                </a:lnTo>
                <a:lnTo>
                  <a:pt x="1334650" y="1189760"/>
                </a:lnTo>
                <a:lnTo>
                  <a:pt x="0" y="1189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088" b="-60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6FAC27-9977-0C7E-9A58-E1CD6839152A}"/>
              </a:ext>
            </a:extLst>
          </p:cNvPr>
          <p:cNvSpPr txBox="1"/>
          <p:nvPr/>
        </p:nvSpPr>
        <p:spPr>
          <a:xfrm>
            <a:off x="357329" y="2690045"/>
            <a:ext cx="53737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Role of PIR Sensor</a:t>
            </a:r>
            <a:endParaRPr lang="en-IN" sz="3600" b="1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098CBB0E-8D00-9E89-1B11-F75A05043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995" y="3944685"/>
            <a:ext cx="4860229" cy="4875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Crowded shelters → uniform temperature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No thermal gradient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/>
              <a:t>Stationary people → no PIR trigger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98EA9DF-32BE-8DB1-F73D-BF90F749E7D4}"/>
              </a:ext>
            </a:extLst>
          </p:cNvPr>
          <p:cNvCxnSpPr>
            <a:cxnSpLocks/>
          </p:cNvCxnSpPr>
          <p:nvPr/>
        </p:nvCxnSpPr>
        <p:spPr>
          <a:xfrm>
            <a:off x="11108208" y="2690045"/>
            <a:ext cx="0" cy="61589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AB10D59-2EC5-CBF4-0903-955257F49CFE}"/>
              </a:ext>
            </a:extLst>
          </p:cNvPr>
          <p:cNvSpPr txBox="1"/>
          <p:nvPr/>
        </p:nvSpPr>
        <p:spPr>
          <a:xfrm>
            <a:off x="11323193" y="2722050"/>
            <a:ext cx="70059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Why PIR Works at Entrance</a:t>
            </a:r>
            <a:endParaRPr lang="en-IN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5ACC14-C29E-A07E-C9EB-84D8025D5171}"/>
              </a:ext>
            </a:extLst>
          </p:cNvPr>
          <p:cNvSpPr txBox="1"/>
          <p:nvPr/>
        </p:nvSpPr>
        <p:spPr>
          <a:xfrm>
            <a:off x="147484" y="557025"/>
            <a:ext cx="163707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WHY PIR IS STILL IMPORTANT</a:t>
            </a:r>
            <a:endParaRPr lang="en-IN" sz="7200" dirty="0">
              <a:solidFill>
                <a:schemeClr val="bg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5D5ED6D-189A-D500-F197-6A5CA4E66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48461" y="3829282"/>
            <a:ext cx="6541578" cy="3890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Continuous movement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Strong thermal contrast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/>
              <a:t>People don’t wait long outside during disasters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7A1E2E-28B0-7439-5D12-D2937031F124}"/>
              </a:ext>
            </a:extLst>
          </p:cNvPr>
          <p:cNvCxnSpPr>
            <a:cxnSpLocks/>
          </p:cNvCxnSpPr>
          <p:nvPr/>
        </p:nvCxnSpPr>
        <p:spPr>
          <a:xfrm>
            <a:off x="5818011" y="2615491"/>
            <a:ext cx="0" cy="61008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B6940CC-6953-92F9-90CD-2EE8C40BB413}"/>
              </a:ext>
            </a:extLst>
          </p:cNvPr>
          <p:cNvSpPr txBox="1"/>
          <p:nvPr/>
        </p:nvSpPr>
        <p:spPr>
          <a:xfrm>
            <a:off x="6036960" y="2567413"/>
            <a:ext cx="50712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Why PIR Failed Earlier (Inside Shelter)</a:t>
            </a:r>
            <a:endParaRPr lang="en-IN" sz="3600" b="1" dirty="0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E6F72A7B-4A9A-F6FD-A8D4-40EEEE49C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271" y="3618650"/>
            <a:ext cx="4860229" cy="5183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/>
              <a:t>Detects living motion (thermal change)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Helps reject: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Bags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Static objects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Acts as life-detection evidence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830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3CD59-B473-47C4-20F5-B1D330FBA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883F0F52-F88D-FF55-39C5-33182021DFF2}"/>
              </a:ext>
            </a:extLst>
          </p:cNvPr>
          <p:cNvGrpSpPr/>
          <p:nvPr/>
        </p:nvGrpSpPr>
        <p:grpSpPr>
          <a:xfrm>
            <a:off x="8048854" y="752281"/>
            <a:ext cx="2190291" cy="809819"/>
            <a:chOff x="0" y="0"/>
            <a:chExt cx="2920388" cy="107975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CEA14A7-F68E-EACC-072B-9CF7031CC190}"/>
                </a:ext>
              </a:extLst>
            </p:cNvPr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7F43806-55CB-83FF-8561-A4547F853AB3}"/>
                </a:ext>
              </a:extLst>
            </p:cNvPr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4BA7324-B899-D64E-96CB-7F1FC751A293}"/>
                </a:ext>
              </a:extLst>
            </p:cNvPr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D363B39F-54CE-F504-F6ED-5BC79B38DCBC}"/>
              </a:ext>
            </a:extLst>
          </p:cNvPr>
          <p:cNvGrpSpPr/>
          <p:nvPr/>
        </p:nvGrpSpPr>
        <p:grpSpPr>
          <a:xfrm>
            <a:off x="28575" y="-163974"/>
            <a:ext cx="18288000" cy="2240687"/>
            <a:chOff x="0" y="-38100"/>
            <a:chExt cx="4816593" cy="59014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F731568-B624-6F45-C546-D16AF93E6EDA}"/>
                </a:ext>
              </a:extLst>
            </p:cNvPr>
            <p:cNvSpPr/>
            <p:nvPr/>
          </p:nvSpPr>
          <p:spPr>
            <a:xfrm>
              <a:off x="0" y="0"/>
              <a:ext cx="4816592" cy="552040"/>
            </a:xfrm>
            <a:custGeom>
              <a:avLst/>
              <a:gdLst/>
              <a:ahLst/>
              <a:cxnLst/>
              <a:rect l="l" t="t" r="r" b="b"/>
              <a:pathLst>
                <a:path w="4816592" h="552040">
                  <a:moveTo>
                    <a:pt x="0" y="0"/>
                  </a:moveTo>
                  <a:lnTo>
                    <a:pt x="4816592" y="0"/>
                  </a:lnTo>
                  <a:lnTo>
                    <a:pt x="4816592" y="552040"/>
                  </a:lnTo>
                  <a:lnTo>
                    <a:pt x="0" y="552040"/>
                  </a:lnTo>
                  <a:close/>
                </a:path>
              </a:pathLst>
            </a:custGeom>
            <a:solidFill>
              <a:srgbClr val="0063B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4240D5EB-A520-668E-ADE9-B53D9363DF39}"/>
                </a:ext>
              </a:extLst>
            </p:cNvPr>
            <p:cNvSpPr txBox="1"/>
            <p:nvPr/>
          </p:nvSpPr>
          <p:spPr>
            <a:xfrm>
              <a:off x="0" y="-38100"/>
              <a:ext cx="4816593" cy="590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39F84BA0-DB1B-4E94-B317-35DED69B2A66}"/>
              </a:ext>
            </a:extLst>
          </p:cNvPr>
          <p:cNvGrpSpPr/>
          <p:nvPr/>
        </p:nvGrpSpPr>
        <p:grpSpPr>
          <a:xfrm>
            <a:off x="0" y="9617322"/>
            <a:ext cx="18288000" cy="669678"/>
            <a:chOff x="0" y="0"/>
            <a:chExt cx="4816593" cy="176376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B644A71-D192-CEE3-44F2-89618002E807}"/>
                </a:ext>
              </a:extLst>
            </p:cNvPr>
            <p:cNvSpPr/>
            <p:nvPr/>
          </p:nvSpPr>
          <p:spPr>
            <a:xfrm>
              <a:off x="0" y="0"/>
              <a:ext cx="4816592" cy="176376"/>
            </a:xfrm>
            <a:custGeom>
              <a:avLst/>
              <a:gdLst/>
              <a:ahLst/>
              <a:cxnLst/>
              <a:rect l="l" t="t" r="r" b="b"/>
              <a:pathLst>
                <a:path w="4816592" h="176376">
                  <a:moveTo>
                    <a:pt x="0" y="0"/>
                  </a:moveTo>
                  <a:lnTo>
                    <a:pt x="4816592" y="0"/>
                  </a:lnTo>
                  <a:lnTo>
                    <a:pt x="4816592" y="176376"/>
                  </a:lnTo>
                  <a:lnTo>
                    <a:pt x="0" y="176376"/>
                  </a:lnTo>
                  <a:close/>
                </a:path>
              </a:pathLst>
            </a:custGeom>
            <a:solidFill>
              <a:srgbClr val="0063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4560AE96-0525-F0A6-B645-232DCFE39FBD}"/>
                </a:ext>
              </a:extLst>
            </p:cNvPr>
            <p:cNvSpPr txBox="1"/>
            <p:nvPr/>
          </p:nvSpPr>
          <p:spPr>
            <a:xfrm>
              <a:off x="0" y="-38100"/>
              <a:ext cx="4816593" cy="214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48E1581B-A5EC-D732-1E7B-3029E12227B5}"/>
              </a:ext>
            </a:extLst>
          </p:cNvPr>
          <p:cNvSpPr/>
          <p:nvPr/>
        </p:nvSpPr>
        <p:spPr>
          <a:xfrm>
            <a:off x="16655390" y="9341478"/>
            <a:ext cx="1334649" cy="1189760"/>
          </a:xfrm>
          <a:custGeom>
            <a:avLst/>
            <a:gdLst/>
            <a:ahLst/>
            <a:cxnLst/>
            <a:rect l="l" t="t" r="r" b="b"/>
            <a:pathLst>
              <a:path w="1334649" h="1189760">
                <a:moveTo>
                  <a:pt x="0" y="0"/>
                </a:moveTo>
                <a:lnTo>
                  <a:pt x="1334650" y="0"/>
                </a:lnTo>
                <a:lnTo>
                  <a:pt x="1334650" y="1189760"/>
                </a:lnTo>
                <a:lnTo>
                  <a:pt x="0" y="1189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088" b="-60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AF1284-4617-5CD2-DBCF-080454D8C97E}"/>
              </a:ext>
            </a:extLst>
          </p:cNvPr>
          <p:cNvSpPr txBox="1"/>
          <p:nvPr/>
        </p:nvSpPr>
        <p:spPr>
          <a:xfrm>
            <a:off x="270419" y="2366880"/>
            <a:ext cx="69120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Why Error Management is Needed</a:t>
            </a:r>
            <a:endParaRPr lang="en-IN" sz="3600" b="1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3A656ACD-4AEA-4460-A0BB-B4CE4F131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891" y="3144394"/>
            <a:ext cx="4594316" cy="2967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Sensors may: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Give fake readings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Temporarily fail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Trigger due to noise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BC72F5C-39FE-142F-8A2A-6E0A9E415B82}"/>
              </a:ext>
            </a:extLst>
          </p:cNvPr>
          <p:cNvCxnSpPr>
            <a:cxnSpLocks/>
          </p:cNvCxnSpPr>
          <p:nvPr/>
        </p:nvCxnSpPr>
        <p:spPr>
          <a:xfrm>
            <a:off x="7169119" y="2423032"/>
            <a:ext cx="13346" cy="6028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C9EFE76-F19B-AE65-5A88-0C85A14A5EE7}"/>
              </a:ext>
            </a:extLst>
          </p:cNvPr>
          <p:cNvSpPr txBox="1"/>
          <p:nvPr/>
        </p:nvSpPr>
        <p:spPr>
          <a:xfrm>
            <a:off x="7404548" y="2367729"/>
            <a:ext cx="56691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Confidence-Based Detection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522C07-8E01-18C1-42DF-BD156081AF28}"/>
              </a:ext>
            </a:extLst>
          </p:cNvPr>
          <p:cNvSpPr txBox="1"/>
          <p:nvPr/>
        </p:nvSpPr>
        <p:spPr>
          <a:xfrm>
            <a:off x="147484" y="557025"/>
            <a:ext cx="163707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SENSOR FUSION &amp; ERROR MANAGEMENT</a:t>
            </a:r>
            <a:endParaRPr lang="en-IN" sz="7200" dirty="0">
              <a:solidFill>
                <a:schemeClr val="bg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6DB368A-EB32-B5C4-88AE-B143B5228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067" y="3305076"/>
            <a:ext cx="859112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dirty="0"/>
              <a:t>Each sensor contributes </a:t>
            </a:r>
            <a:r>
              <a:rPr lang="en-US" sz="2800" b="1" dirty="0"/>
              <a:t>evidence</a:t>
            </a:r>
            <a:r>
              <a:rPr lang="en-US" sz="2800" dirty="0"/>
              <a:t>, not a final decision.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335A516-0177-8C5B-3B33-ED48B767D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790911"/>
              </p:ext>
            </p:extLst>
          </p:nvPr>
        </p:nvGraphicFramePr>
        <p:xfrm>
          <a:off x="7754107" y="4191368"/>
          <a:ext cx="8229600" cy="20726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386053924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850335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Evidence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828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PIR motion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+1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397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Weight detected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+1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387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Dynamic weight change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+1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47996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F1A92FA5-6839-6469-6CC6-4F364F9F9F37}"/>
              </a:ext>
            </a:extLst>
          </p:cNvPr>
          <p:cNvSpPr txBox="1"/>
          <p:nvPr/>
        </p:nvSpPr>
        <p:spPr>
          <a:xfrm>
            <a:off x="7404548" y="6542753"/>
            <a:ext cx="56691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Decision Rule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8A9A5C-D990-CFAB-17EC-1C839B80FFE4}"/>
              </a:ext>
            </a:extLst>
          </p:cNvPr>
          <p:cNvSpPr txBox="1"/>
          <p:nvPr/>
        </p:nvSpPr>
        <p:spPr>
          <a:xfrm>
            <a:off x="8048854" y="7284700"/>
            <a:ext cx="6005619" cy="1490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Confidence ≥ 2 → Valid human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Confidence = 1 → Rejected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099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874CC-6215-50DB-5BC3-BE927B311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15B54EF0-03B5-298F-3443-74CA8333D465}"/>
              </a:ext>
            </a:extLst>
          </p:cNvPr>
          <p:cNvGrpSpPr/>
          <p:nvPr/>
        </p:nvGrpSpPr>
        <p:grpSpPr>
          <a:xfrm>
            <a:off x="8048854" y="752281"/>
            <a:ext cx="2190291" cy="809819"/>
            <a:chOff x="0" y="0"/>
            <a:chExt cx="2920388" cy="107975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C902CB8-6F81-24ED-8EBC-10DA01B9F654}"/>
                </a:ext>
              </a:extLst>
            </p:cNvPr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2809F99-5E10-70E5-8284-D9A280AB2B67}"/>
                </a:ext>
              </a:extLst>
            </p:cNvPr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8E983FB-D833-9B5E-B503-D5D8A81E8E9A}"/>
                </a:ext>
              </a:extLst>
            </p:cNvPr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C8D1D5B8-F8A4-30D4-368B-51D85A30F43A}"/>
              </a:ext>
            </a:extLst>
          </p:cNvPr>
          <p:cNvGrpSpPr/>
          <p:nvPr/>
        </p:nvGrpSpPr>
        <p:grpSpPr>
          <a:xfrm>
            <a:off x="28575" y="-163974"/>
            <a:ext cx="18288000" cy="2240687"/>
            <a:chOff x="0" y="-38100"/>
            <a:chExt cx="4816593" cy="59014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53A7AD6-E6FE-CF3D-E5C6-A37C211D8D0F}"/>
                </a:ext>
              </a:extLst>
            </p:cNvPr>
            <p:cNvSpPr/>
            <p:nvPr/>
          </p:nvSpPr>
          <p:spPr>
            <a:xfrm>
              <a:off x="0" y="0"/>
              <a:ext cx="4816592" cy="552040"/>
            </a:xfrm>
            <a:custGeom>
              <a:avLst/>
              <a:gdLst/>
              <a:ahLst/>
              <a:cxnLst/>
              <a:rect l="l" t="t" r="r" b="b"/>
              <a:pathLst>
                <a:path w="4816592" h="552040">
                  <a:moveTo>
                    <a:pt x="0" y="0"/>
                  </a:moveTo>
                  <a:lnTo>
                    <a:pt x="4816592" y="0"/>
                  </a:lnTo>
                  <a:lnTo>
                    <a:pt x="4816592" y="552040"/>
                  </a:lnTo>
                  <a:lnTo>
                    <a:pt x="0" y="552040"/>
                  </a:lnTo>
                  <a:close/>
                </a:path>
              </a:pathLst>
            </a:custGeom>
            <a:solidFill>
              <a:srgbClr val="0063B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03BDCAD-D26C-A605-F07D-67C6133E63DC}"/>
                </a:ext>
              </a:extLst>
            </p:cNvPr>
            <p:cNvSpPr txBox="1"/>
            <p:nvPr/>
          </p:nvSpPr>
          <p:spPr>
            <a:xfrm>
              <a:off x="0" y="-38100"/>
              <a:ext cx="4816593" cy="590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151438D-1FFC-18F4-0BC0-ABB3FD60BCE6}"/>
              </a:ext>
            </a:extLst>
          </p:cNvPr>
          <p:cNvGrpSpPr/>
          <p:nvPr/>
        </p:nvGrpSpPr>
        <p:grpSpPr>
          <a:xfrm>
            <a:off x="0" y="9617322"/>
            <a:ext cx="18288000" cy="669678"/>
            <a:chOff x="0" y="0"/>
            <a:chExt cx="4816593" cy="176376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2E0B80C-436F-F0F8-1987-815321323812}"/>
                </a:ext>
              </a:extLst>
            </p:cNvPr>
            <p:cNvSpPr/>
            <p:nvPr/>
          </p:nvSpPr>
          <p:spPr>
            <a:xfrm>
              <a:off x="0" y="0"/>
              <a:ext cx="4816592" cy="176376"/>
            </a:xfrm>
            <a:custGeom>
              <a:avLst/>
              <a:gdLst/>
              <a:ahLst/>
              <a:cxnLst/>
              <a:rect l="l" t="t" r="r" b="b"/>
              <a:pathLst>
                <a:path w="4816592" h="176376">
                  <a:moveTo>
                    <a:pt x="0" y="0"/>
                  </a:moveTo>
                  <a:lnTo>
                    <a:pt x="4816592" y="0"/>
                  </a:lnTo>
                  <a:lnTo>
                    <a:pt x="4816592" y="176376"/>
                  </a:lnTo>
                  <a:lnTo>
                    <a:pt x="0" y="176376"/>
                  </a:lnTo>
                  <a:close/>
                </a:path>
              </a:pathLst>
            </a:custGeom>
            <a:solidFill>
              <a:srgbClr val="0063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21DBB032-741F-8C94-DF90-BBACB7B09E05}"/>
                </a:ext>
              </a:extLst>
            </p:cNvPr>
            <p:cNvSpPr txBox="1"/>
            <p:nvPr/>
          </p:nvSpPr>
          <p:spPr>
            <a:xfrm>
              <a:off x="0" y="-38100"/>
              <a:ext cx="4816593" cy="214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3E52629B-8D78-24E7-34ED-A728CBC0C9D3}"/>
              </a:ext>
            </a:extLst>
          </p:cNvPr>
          <p:cNvSpPr/>
          <p:nvPr/>
        </p:nvSpPr>
        <p:spPr>
          <a:xfrm>
            <a:off x="16655390" y="9341478"/>
            <a:ext cx="1334649" cy="1189760"/>
          </a:xfrm>
          <a:custGeom>
            <a:avLst/>
            <a:gdLst/>
            <a:ahLst/>
            <a:cxnLst/>
            <a:rect l="l" t="t" r="r" b="b"/>
            <a:pathLst>
              <a:path w="1334649" h="1189760">
                <a:moveTo>
                  <a:pt x="0" y="0"/>
                </a:moveTo>
                <a:lnTo>
                  <a:pt x="1334650" y="0"/>
                </a:lnTo>
                <a:lnTo>
                  <a:pt x="1334650" y="1189760"/>
                </a:lnTo>
                <a:lnTo>
                  <a:pt x="0" y="1189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088" b="-60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31BB64-C991-D2C3-1223-3BF05D8B53A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7181" y="2367728"/>
            <a:ext cx="69120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Handled Scenarios</a:t>
            </a:r>
            <a:endParaRPr lang="en-IN" sz="3600" b="1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C6D93EBB-820B-548E-5A4D-392EDE059A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725588" y="4103265"/>
            <a:ext cx="5577141" cy="1961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/>
              <a:t>PIR = YES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/>
              <a:t>Weight = NO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/>
              <a:t>Confidence = 1 → ❌ Rejected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9DC0415-A150-4377-719E-F8F4044BEFA5}"/>
              </a:ext>
            </a:extLst>
          </p:cNvPr>
          <p:cNvCxnSpPr>
            <a:cxnSpLocks/>
          </p:cNvCxnSpPr>
          <p:nvPr/>
        </p:nvCxnSpPr>
        <p:spPr>
          <a:xfrm>
            <a:off x="8725744" y="3353985"/>
            <a:ext cx="13346" cy="6028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E534D7E-DC4E-BBBB-AD01-7F93E52CA9D5}"/>
              </a:ext>
            </a:extLst>
          </p:cNvPr>
          <p:cNvSpPr txBox="1"/>
          <p:nvPr/>
        </p:nvSpPr>
        <p:spPr>
          <a:xfrm>
            <a:off x="147484" y="557025"/>
            <a:ext cx="163707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FALSE DETECTION CASES (EXPLICIT)</a:t>
            </a:r>
            <a:endParaRPr lang="en-IN" sz="72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386B2A-FF7D-67BA-54B1-923D1ABDF58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36592" y="3340236"/>
            <a:ext cx="39188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🐦 </a:t>
            </a:r>
            <a:r>
              <a:rPr lang="en-IN" sz="3200" b="1" dirty="0"/>
              <a:t>Bird / Animal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CD34CA-8D8F-83BD-71A2-E4D6FF8CD8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25589" y="6392196"/>
            <a:ext cx="39188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🎒 </a:t>
            </a:r>
            <a:r>
              <a:rPr lang="en-IN" sz="3200" b="1" dirty="0"/>
              <a:t>Bag placed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32FD73-5893-7F96-CDD3-44A386558CB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25588" y="6997534"/>
            <a:ext cx="5577141" cy="2607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/>
              <a:t>Weight = YES (static)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/>
              <a:t>PIR = NO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/>
              <a:t>No dynamic change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/>
              <a:t>Confidence = 1 → ❌ Rejected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36717A5C-4D5A-6E9B-F02B-159DDFCF8CB8}"/>
              </a:ext>
            </a:extLst>
          </p:cNvPr>
          <p:cNvSpPr>
            <a:spLocks/>
          </p:cNvSpPr>
          <p:nvPr/>
        </p:nvSpPr>
        <p:spPr bwMode="auto">
          <a:xfrm>
            <a:off x="11767180" y="4497670"/>
            <a:ext cx="5577141" cy="1315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/>
              <a:t>PIR + Weight + Dynamic change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/>
              <a:t>Confidence ≥ 2 → ✅ Count++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BB5844-647C-5C42-E937-04F5A3CD34A1}"/>
              </a:ext>
            </a:extLst>
          </p:cNvPr>
          <p:cNvSpPr txBox="1">
            <a:spLocks/>
          </p:cNvSpPr>
          <p:nvPr/>
        </p:nvSpPr>
        <p:spPr>
          <a:xfrm>
            <a:off x="11578184" y="3411474"/>
            <a:ext cx="39188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🚶 </a:t>
            </a:r>
            <a:r>
              <a:rPr lang="en-IN" sz="3200" b="1" dirty="0"/>
              <a:t>Human Entry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AC9162-2C0B-7221-C9C3-1CC94B6C6776}"/>
              </a:ext>
            </a:extLst>
          </p:cNvPr>
          <p:cNvSpPr txBox="1">
            <a:spLocks/>
          </p:cNvSpPr>
          <p:nvPr/>
        </p:nvSpPr>
        <p:spPr>
          <a:xfrm>
            <a:off x="11767181" y="6463434"/>
            <a:ext cx="39188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⚠️ </a:t>
            </a:r>
            <a:r>
              <a:rPr lang="en-IN" sz="3200" b="1" dirty="0"/>
              <a:t>Sensor Failure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A187FA-1C58-D2F3-74D8-DF6404B895B8}"/>
              </a:ext>
            </a:extLst>
          </p:cNvPr>
          <p:cNvSpPr txBox="1">
            <a:spLocks/>
          </p:cNvSpPr>
          <p:nvPr/>
        </p:nvSpPr>
        <p:spPr>
          <a:xfrm>
            <a:off x="11767180" y="7068772"/>
            <a:ext cx="5577141" cy="1961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dirty="0"/>
              <a:t>PIR fails → Weight + dynamic works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dirty="0"/>
              <a:t>Load cell fails → PIR + persistence works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883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A3579-7090-F3DB-8F1B-27E6F8B37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282D5525-C01A-482D-38B9-CCB40C40C3E6}"/>
              </a:ext>
            </a:extLst>
          </p:cNvPr>
          <p:cNvGrpSpPr/>
          <p:nvPr/>
        </p:nvGrpSpPr>
        <p:grpSpPr>
          <a:xfrm>
            <a:off x="8048854" y="752281"/>
            <a:ext cx="2190291" cy="809819"/>
            <a:chOff x="0" y="0"/>
            <a:chExt cx="2920388" cy="107975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2640A1B-373C-F8E6-2FB7-D1A4A32921E0}"/>
                </a:ext>
              </a:extLst>
            </p:cNvPr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094A69D-6417-CFCD-A945-91F8528BDDF3}"/>
                </a:ext>
              </a:extLst>
            </p:cNvPr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B0CD8BF-2C81-1141-7D43-35978D2B5518}"/>
                </a:ext>
              </a:extLst>
            </p:cNvPr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4B9CFD6-B9AD-E359-4EDF-B969FCA420E4}"/>
              </a:ext>
            </a:extLst>
          </p:cNvPr>
          <p:cNvGrpSpPr/>
          <p:nvPr/>
        </p:nvGrpSpPr>
        <p:grpSpPr>
          <a:xfrm>
            <a:off x="28575" y="-163974"/>
            <a:ext cx="18288000" cy="2240687"/>
            <a:chOff x="0" y="-38100"/>
            <a:chExt cx="4816593" cy="59014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09DEB4D-6BCD-7430-B757-44873C1031A4}"/>
                </a:ext>
              </a:extLst>
            </p:cNvPr>
            <p:cNvSpPr/>
            <p:nvPr/>
          </p:nvSpPr>
          <p:spPr>
            <a:xfrm>
              <a:off x="0" y="0"/>
              <a:ext cx="4816592" cy="552040"/>
            </a:xfrm>
            <a:custGeom>
              <a:avLst/>
              <a:gdLst/>
              <a:ahLst/>
              <a:cxnLst/>
              <a:rect l="l" t="t" r="r" b="b"/>
              <a:pathLst>
                <a:path w="4816592" h="552040">
                  <a:moveTo>
                    <a:pt x="0" y="0"/>
                  </a:moveTo>
                  <a:lnTo>
                    <a:pt x="4816592" y="0"/>
                  </a:lnTo>
                  <a:lnTo>
                    <a:pt x="4816592" y="552040"/>
                  </a:lnTo>
                  <a:lnTo>
                    <a:pt x="0" y="552040"/>
                  </a:lnTo>
                  <a:close/>
                </a:path>
              </a:pathLst>
            </a:custGeom>
            <a:solidFill>
              <a:srgbClr val="0063B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8864D1D-2C54-02D8-C1CE-61414C98B9EE}"/>
                </a:ext>
              </a:extLst>
            </p:cNvPr>
            <p:cNvSpPr txBox="1"/>
            <p:nvPr/>
          </p:nvSpPr>
          <p:spPr>
            <a:xfrm>
              <a:off x="0" y="-38100"/>
              <a:ext cx="4816593" cy="590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BD86BA0-666C-6703-27BC-199BDF0B8319}"/>
              </a:ext>
            </a:extLst>
          </p:cNvPr>
          <p:cNvGrpSpPr/>
          <p:nvPr/>
        </p:nvGrpSpPr>
        <p:grpSpPr>
          <a:xfrm>
            <a:off x="0" y="9617322"/>
            <a:ext cx="18288000" cy="669678"/>
            <a:chOff x="0" y="0"/>
            <a:chExt cx="4816593" cy="176376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8752852-0563-FD67-B934-85008B18462C}"/>
                </a:ext>
              </a:extLst>
            </p:cNvPr>
            <p:cNvSpPr/>
            <p:nvPr/>
          </p:nvSpPr>
          <p:spPr>
            <a:xfrm>
              <a:off x="0" y="0"/>
              <a:ext cx="4816592" cy="176376"/>
            </a:xfrm>
            <a:custGeom>
              <a:avLst/>
              <a:gdLst/>
              <a:ahLst/>
              <a:cxnLst/>
              <a:rect l="l" t="t" r="r" b="b"/>
              <a:pathLst>
                <a:path w="4816592" h="176376">
                  <a:moveTo>
                    <a:pt x="0" y="0"/>
                  </a:moveTo>
                  <a:lnTo>
                    <a:pt x="4816592" y="0"/>
                  </a:lnTo>
                  <a:lnTo>
                    <a:pt x="4816592" y="176376"/>
                  </a:lnTo>
                  <a:lnTo>
                    <a:pt x="0" y="176376"/>
                  </a:lnTo>
                  <a:close/>
                </a:path>
              </a:pathLst>
            </a:custGeom>
            <a:solidFill>
              <a:srgbClr val="0063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AA47B14-78CE-5350-765D-F0798ABBAEA0}"/>
                </a:ext>
              </a:extLst>
            </p:cNvPr>
            <p:cNvSpPr txBox="1"/>
            <p:nvPr/>
          </p:nvSpPr>
          <p:spPr>
            <a:xfrm>
              <a:off x="0" y="-38100"/>
              <a:ext cx="4816593" cy="214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95763B86-0153-2D2E-EE9E-D9B82260AC9B}"/>
              </a:ext>
            </a:extLst>
          </p:cNvPr>
          <p:cNvSpPr/>
          <p:nvPr/>
        </p:nvSpPr>
        <p:spPr>
          <a:xfrm>
            <a:off x="16655390" y="9341478"/>
            <a:ext cx="1334649" cy="1189760"/>
          </a:xfrm>
          <a:custGeom>
            <a:avLst/>
            <a:gdLst/>
            <a:ahLst/>
            <a:cxnLst/>
            <a:rect l="l" t="t" r="r" b="b"/>
            <a:pathLst>
              <a:path w="1334649" h="1189760">
                <a:moveTo>
                  <a:pt x="0" y="0"/>
                </a:moveTo>
                <a:lnTo>
                  <a:pt x="1334650" y="0"/>
                </a:lnTo>
                <a:lnTo>
                  <a:pt x="1334650" y="1189760"/>
                </a:lnTo>
                <a:lnTo>
                  <a:pt x="0" y="1189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088" b="-60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838CD3-1A40-DF1D-5C5F-BD93A9341D2B}"/>
              </a:ext>
            </a:extLst>
          </p:cNvPr>
          <p:cNvSpPr txBox="1"/>
          <p:nvPr/>
        </p:nvSpPr>
        <p:spPr>
          <a:xfrm>
            <a:off x="270419" y="2366880"/>
            <a:ext cx="69120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What We Count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A7743846-B7A2-9DB9-9E4D-17B09D350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033" y="4010147"/>
            <a:ext cx="5749446" cy="2228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People entering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NOT bed occupancy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NOT people sitting/sleeping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4E1878A-E7EC-367A-EFBB-7C70BFDFD2DC}"/>
              </a:ext>
            </a:extLst>
          </p:cNvPr>
          <p:cNvCxnSpPr>
            <a:cxnSpLocks/>
          </p:cNvCxnSpPr>
          <p:nvPr/>
        </p:nvCxnSpPr>
        <p:spPr>
          <a:xfrm>
            <a:off x="7169119" y="2423032"/>
            <a:ext cx="13346" cy="6028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2D0F153-BB25-CDA2-3672-47EC7637694E}"/>
              </a:ext>
            </a:extLst>
          </p:cNvPr>
          <p:cNvSpPr txBox="1"/>
          <p:nvPr/>
        </p:nvSpPr>
        <p:spPr>
          <a:xfrm>
            <a:off x="7404548" y="2367729"/>
            <a:ext cx="56691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Logic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9481B9-99C4-C1C3-07E7-702EB63F2CA6}"/>
              </a:ext>
            </a:extLst>
          </p:cNvPr>
          <p:cNvSpPr txBox="1"/>
          <p:nvPr/>
        </p:nvSpPr>
        <p:spPr>
          <a:xfrm>
            <a:off x="147484" y="557025"/>
            <a:ext cx="163707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ENTRY COUNTING LOGIC</a:t>
            </a:r>
            <a:endParaRPr lang="en-IN" sz="7200" dirty="0">
              <a:solidFill>
                <a:schemeClr val="bg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CC6869E-D092-B161-EBF7-762023500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067" y="3144393"/>
            <a:ext cx="8591127" cy="4444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Each validated entry: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 err="1"/>
              <a:t>peopleCount</a:t>
            </a:r>
            <a:r>
              <a:rPr lang="en-IN" sz="3200" dirty="0"/>
              <a:t>++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Data sent via LoRa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3-second lockout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Prevents double counting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Handles lingering at entrance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36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EF02A-719E-7449-446B-C58319716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3274C1D1-3C2B-1B03-687D-84A8CC90E390}"/>
              </a:ext>
            </a:extLst>
          </p:cNvPr>
          <p:cNvGrpSpPr/>
          <p:nvPr/>
        </p:nvGrpSpPr>
        <p:grpSpPr>
          <a:xfrm>
            <a:off x="8048854" y="752281"/>
            <a:ext cx="2190291" cy="809819"/>
            <a:chOff x="0" y="0"/>
            <a:chExt cx="2920388" cy="107975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7241061-AD6D-60FB-42EE-266911AF70CE}"/>
                </a:ext>
              </a:extLst>
            </p:cNvPr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9F31AC1-EDC0-AA92-C8CC-3D4D441ED970}"/>
                </a:ext>
              </a:extLst>
            </p:cNvPr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DD1EFC0-890F-853D-3AEF-B69EF215874D}"/>
                </a:ext>
              </a:extLst>
            </p:cNvPr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A8F15B3-E82C-B1BA-A1C5-B267D032EC92}"/>
              </a:ext>
            </a:extLst>
          </p:cNvPr>
          <p:cNvGrpSpPr/>
          <p:nvPr/>
        </p:nvGrpSpPr>
        <p:grpSpPr>
          <a:xfrm>
            <a:off x="28575" y="-163974"/>
            <a:ext cx="18288000" cy="2240687"/>
            <a:chOff x="0" y="-38100"/>
            <a:chExt cx="4816593" cy="59014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133E5D2-B7FA-3280-2FFB-0E164B585C54}"/>
                </a:ext>
              </a:extLst>
            </p:cNvPr>
            <p:cNvSpPr/>
            <p:nvPr/>
          </p:nvSpPr>
          <p:spPr>
            <a:xfrm>
              <a:off x="0" y="0"/>
              <a:ext cx="4816592" cy="552040"/>
            </a:xfrm>
            <a:custGeom>
              <a:avLst/>
              <a:gdLst/>
              <a:ahLst/>
              <a:cxnLst/>
              <a:rect l="l" t="t" r="r" b="b"/>
              <a:pathLst>
                <a:path w="4816592" h="552040">
                  <a:moveTo>
                    <a:pt x="0" y="0"/>
                  </a:moveTo>
                  <a:lnTo>
                    <a:pt x="4816592" y="0"/>
                  </a:lnTo>
                  <a:lnTo>
                    <a:pt x="4816592" y="552040"/>
                  </a:lnTo>
                  <a:lnTo>
                    <a:pt x="0" y="552040"/>
                  </a:lnTo>
                  <a:close/>
                </a:path>
              </a:pathLst>
            </a:custGeom>
            <a:solidFill>
              <a:srgbClr val="0063B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A9D7DFDC-FE8B-B5FF-DAE1-BFA65EF6B079}"/>
                </a:ext>
              </a:extLst>
            </p:cNvPr>
            <p:cNvSpPr txBox="1"/>
            <p:nvPr/>
          </p:nvSpPr>
          <p:spPr>
            <a:xfrm>
              <a:off x="0" y="-38100"/>
              <a:ext cx="4816593" cy="590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1B0A9E63-033E-64E6-BD40-381904FA3657}"/>
              </a:ext>
            </a:extLst>
          </p:cNvPr>
          <p:cNvGrpSpPr/>
          <p:nvPr/>
        </p:nvGrpSpPr>
        <p:grpSpPr>
          <a:xfrm>
            <a:off x="0" y="9617322"/>
            <a:ext cx="18288000" cy="669678"/>
            <a:chOff x="0" y="0"/>
            <a:chExt cx="4816593" cy="176376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6318CB0-DD61-3DC6-730B-FDBD3F97C73C}"/>
                </a:ext>
              </a:extLst>
            </p:cNvPr>
            <p:cNvSpPr/>
            <p:nvPr/>
          </p:nvSpPr>
          <p:spPr>
            <a:xfrm>
              <a:off x="0" y="0"/>
              <a:ext cx="4816592" cy="176376"/>
            </a:xfrm>
            <a:custGeom>
              <a:avLst/>
              <a:gdLst/>
              <a:ahLst/>
              <a:cxnLst/>
              <a:rect l="l" t="t" r="r" b="b"/>
              <a:pathLst>
                <a:path w="4816592" h="176376">
                  <a:moveTo>
                    <a:pt x="0" y="0"/>
                  </a:moveTo>
                  <a:lnTo>
                    <a:pt x="4816592" y="0"/>
                  </a:lnTo>
                  <a:lnTo>
                    <a:pt x="4816592" y="176376"/>
                  </a:lnTo>
                  <a:lnTo>
                    <a:pt x="0" y="176376"/>
                  </a:lnTo>
                  <a:close/>
                </a:path>
              </a:pathLst>
            </a:custGeom>
            <a:solidFill>
              <a:srgbClr val="0063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AE6176B-E59E-0A43-CBA4-EC124B8A75F1}"/>
                </a:ext>
              </a:extLst>
            </p:cNvPr>
            <p:cNvSpPr txBox="1"/>
            <p:nvPr/>
          </p:nvSpPr>
          <p:spPr>
            <a:xfrm>
              <a:off x="0" y="-38100"/>
              <a:ext cx="4816593" cy="214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5F54E7A5-D036-45A8-10A4-A3DE36357A7D}"/>
              </a:ext>
            </a:extLst>
          </p:cNvPr>
          <p:cNvSpPr/>
          <p:nvPr/>
        </p:nvSpPr>
        <p:spPr>
          <a:xfrm>
            <a:off x="16655390" y="9341478"/>
            <a:ext cx="1334649" cy="1189760"/>
          </a:xfrm>
          <a:custGeom>
            <a:avLst/>
            <a:gdLst/>
            <a:ahLst/>
            <a:cxnLst/>
            <a:rect l="l" t="t" r="r" b="b"/>
            <a:pathLst>
              <a:path w="1334649" h="1189760">
                <a:moveTo>
                  <a:pt x="0" y="0"/>
                </a:moveTo>
                <a:lnTo>
                  <a:pt x="1334650" y="0"/>
                </a:lnTo>
                <a:lnTo>
                  <a:pt x="1334650" y="1189760"/>
                </a:lnTo>
                <a:lnTo>
                  <a:pt x="0" y="1189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088" b="-60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EB33E4-3F6D-BE46-0F68-151D756BF21D}"/>
              </a:ext>
            </a:extLst>
          </p:cNvPr>
          <p:cNvSpPr txBox="1"/>
          <p:nvPr/>
        </p:nvSpPr>
        <p:spPr>
          <a:xfrm>
            <a:off x="270419" y="2366880"/>
            <a:ext cx="69120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Why FSM?</a:t>
            </a:r>
            <a:endParaRPr lang="en-IN" sz="3600" b="1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3A65A8F-6925-F1B3-1210-BF71F270E12E}"/>
              </a:ext>
            </a:extLst>
          </p:cNvPr>
          <p:cNvCxnSpPr>
            <a:cxnSpLocks/>
          </p:cNvCxnSpPr>
          <p:nvPr/>
        </p:nvCxnSpPr>
        <p:spPr>
          <a:xfrm>
            <a:off x="7169119" y="2423032"/>
            <a:ext cx="13346" cy="6028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08EE0A9-97A3-1D1A-4C2D-9764AE2E098F}"/>
              </a:ext>
            </a:extLst>
          </p:cNvPr>
          <p:cNvSpPr txBox="1"/>
          <p:nvPr/>
        </p:nvSpPr>
        <p:spPr>
          <a:xfrm>
            <a:off x="7404548" y="2367729"/>
            <a:ext cx="56691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Capacity States (Demo = 6)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3A1269-A729-FE8A-3442-BA796D7FCAE3}"/>
              </a:ext>
            </a:extLst>
          </p:cNvPr>
          <p:cNvSpPr txBox="1"/>
          <p:nvPr/>
        </p:nvSpPr>
        <p:spPr>
          <a:xfrm>
            <a:off x="147484" y="557025"/>
            <a:ext cx="163707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FSM (FINITE STATE MACHINE)</a:t>
            </a:r>
            <a:endParaRPr lang="en-IN" sz="7200" dirty="0">
              <a:solidFill>
                <a:schemeClr val="bg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E25AC0D-BEDB-7265-2422-61B1C6235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955132"/>
              </p:ext>
            </p:extLst>
          </p:nvPr>
        </p:nvGraphicFramePr>
        <p:xfrm>
          <a:off x="7709861" y="3583426"/>
          <a:ext cx="8229600" cy="21945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386053924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850335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828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510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1–2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246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HALF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397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4–5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THREE_QUARTER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387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47996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D4698462-3DA3-1E2D-630C-39F66F5F039A}"/>
              </a:ext>
            </a:extLst>
          </p:cNvPr>
          <p:cNvSpPr txBox="1"/>
          <p:nvPr/>
        </p:nvSpPr>
        <p:spPr>
          <a:xfrm>
            <a:off x="7404548" y="6542753"/>
            <a:ext cx="56691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 err="1"/>
              <a:t>Behavior</a:t>
            </a:r>
            <a:r>
              <a:rPr lang="en-IN" sz="3600" b="1" dirty="0"/>
              <a:t> When FULL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C01E4B-0DD8-122F-065A-FB7CB03F0C14}"/>
              </a:ext>
            </a:extLst>
          </p:cNvPr>
          <p:cNvSpPr txBox="1"/>
          <p:nvPr/>
        </p:nvSpPr>
        <p:spPr>
          <a:xfrm>
            <a:off x="8048854" y="7284700"/>
            <a:ext cx="6005619" cy="2217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Stop counting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/>
              <a:t>Send LoRa warning every second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3200" dirty="0"/>
              <a:t>Prevent overcrowding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ABF9A7-F1A5-EEAB-D8D4-34BF403F4FA0}"/>
              </a:ext>
            </a:extLst>
          </p:cNvPr>
          <p:cNvSpPr txBox="1"/>
          <p:nvPr/>
        </p:nvSpPr>
        <p:spPr>
          <a:xfrm>
            <a:off x="711369" y="3492527"/>
            <a:ext cx="4369880" cy="2232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Predictable behavior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Easy to explain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Review-friendly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65607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AD3E-AB8F-C993-05A1-E4E6C3143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DFD927A4-35E6-6E51-5586-466D89707E3A}"/>
              </a:ext>
            </a:extLst>
          </p:cNvPr>
          <p:cNvGrpSpPr/>
          <p:nvPr/>
        </p:nvGrpSpPr>
        <p:grpSpPr>
          <a:xfrm>
            <a:off x="8048854" y="752281"/>
            <a:ext cx="2190291" cy="809819"/>
            <a:chOff x="0" y="0"/>
            <a:chExt cx="2920388" cy="107975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6051A48-B42B-7417-4F65-E4FCC0593482}"/>
                </a:ext>
              </a:extLst>
            </p:cNvPr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B2A1261-6005-C97A-DB2E-03B3156FB31B}"/>
                </a:ext>
              </a:extLst>
            </p:cNvPr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E27F678-38CB-5F3E-C9CF-F3012D04D1CD}"/>
                </a:ext>
              </a:extLst>
            </p:cNvPr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F2E7353D-8F00-7298-B757-9C9612A10C2E}"/>
              </a:ext>
            </a:extLst>
          </p:cNvPr>
          <p:cNvGrpSpPr/>
          <p:nvPr/>
        </p:nvGrpSpPr>
        <p:grpSpPr>
          <a:xfrm>
            <a:off x="28575" y="-163974"/>
            <a:ext cx="18288000" cy="2240687"/>
            <a:chOff x="0" y="-38100"/>
            <a:chExt cx="4816593" cy="59014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FAD328D-E47C-AEC8-8B45-2EAD4F792530}"/>
                </a:ext>
              </a:extLst>
            </p:cNvPr>
            <p:cNvSpPr/>
            <p:nvPr/>
          </p:nvSpPr>
          <p:spPr>
            <a:xfrm>
              <a:off x="0" y="0"/>
              <a:ext cx="4816592" cy="552040"/>
            </a:xfrm>
            <a:custGeom>
              <a:avLst/>
              <a:gdLst/>
              <a:ahLst/>
              <a:cxnLst/>
              <a:rect l="l" t="t" r="r" b="b"/>
              <a:pathLst>
                <a:path w="4816592" h="552040">
                  <a:moveTo>
                    <a:pt x="0" y="0"/>
                  </a:moveTo>
                  <a:lnTo>
                    <a:pt x="4816592" y="0"/>
                  </a:lnTo>
                  <a:lnTo>
                    <a:pt x="4816592" y="552040"/>
                  </a:lnTo>
                  <a:lnTo>
                    <a:pt x="0" y="552040"/>
                  </a:lnTo>
                  <a:close/>
                </a:path>
              </a:pathLst>
            </a:custGeom>
            <a:solidFill>
              <a:srgbClr val="0063B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D46A5F54-415E-FC4C-8E9F-EC5ECCFFAFD7}"/>
                </a:ext>
              </a:extLst>
            </p:cNvPr>
            <p:cNvSpPr txBox="1"/>
            <p:nvPr/>
          </p:nvSpPr>
          <p:spPr>
            <a:xfrm>
              <a:off x="0" y="-38100"/>
              <a:ext cx="4816593" cy="590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3E2F53A9-5286-1469-2C93-596D966AC721}"/>
              </a:ext>
            </a:extLst>
          </p:cNvPr>
          <p:cNvGrpSpPr/>
          <p:nvPr/>
        </p:nvGrpSpPr>
        <p:grpSpPr>
          <a:xfrm>
            <a:off x="0" y="9617322"/>
            <a:ext cx="18288000" cy="669678"/>
            <a:chOff x="0" y="0"/>
            <a:chExt cx="4816593" cy="176376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E395A50-AC84-14F1-5FEC-A79C2648BDFD}"/>
                </a:ext>
              </a:extLst>
            </p:cNvPr>
            <p:cNvSpPr/>
            <p:nvPr/>
          </p:nvSpPr>
          <p:spPr>
            <a:xfrm>
              <a:off x="0" y="0"/>
              <a:ext cx="4816592" cy="176376"/>
            </a:xfrm>
            <a:custGeom>
              <a:avLst/>
              <a:gdLst/>
              <a:ahLst/>
              <a:cxnLst/>
              <a:rect l="l" t="t" r="r" b="b"/>
              <a:pathLst>
                <a:path w="4816592" h="176376">
                  <a:moveTo>
                    <a:pt x="0" y="0"/>
                  </a:moveTo>
                  <a:lnTo>
                    <a:pt x="4816592" y="0"/>
                  </a:lnTo>
                  <a:lnTo>
                    <a:pt x="4816592" y="176376"/>
                  </a:lnTo>
                  <a:lnTo>
                    <a:pt x="0" y="176376"/>
                  </a:lnTo>
                  <a:close/>
                </a:path>
              </a:pathLst>
            </a:custGeom>
            <a:solidFill>
              <a:srgbClr val="0063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E7732A7F-B8BB-97CE-42E0-11D3359842D5}"/>
                </a:ext>
              </a:extLst>
            </p:cNvPr>
            <p:cNvSpPr txBox="1"/>
            <p:nvPr/>
          </p:nvSpPr>
          <p:spPr>
            <a:xfrm>
              <a:off x="0" y="-38100"/>
              <a:ext cx="4816593" cy="214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D5759005-F276-462C-8A03-CAA261A123CC}"/>
              </a:ext>
            </a:extLst>
          </p:cNvPr>
          <p:cNvSpPr/>
          <p:nvPr/>
        </p:nvSpPr>
        <p:spPr>
          <a:xfrm>
            <a:off x="16655390" y="9341478"/>
            <a:ext cx="1334649" cy="1189760"/>
          </a:xfrm>
          <a:custGeom>
            <a:avLst/>
            <a:gdLst/>
            <a:ahLst/>
            <a:cxnLst/>
            <a:rect l="l" t="t" r="r" b="b"/>
            <a:pathLst>
              <a:path w="1334649" h="1189760">
                <a:moveTo>
                  <a:pt x="0" y="0"/>
                </a:moveTo>
                <a:lnTo>
                  <a:pt x="1334650" y="0"/>
                </a:lnTo>
                <a:lnTo>
                  <a:pt x="1334650" y="1189760"/>
                </a:lnTo>
                <a:lnTo>
                  <a:pt x="0" y="1189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088" b="-60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D6CB45-F806-FB44-AC9C-6037DCCC6F50}"/>
              </a:ext>
            </a:extLst>
          </p:cNvPr>
          <p:cNvSpPr txBox="1"/>
          <p:nvPr/>
        </p:nvSpPr>
        <p:spPr>
          <a:xfrm>
            <a:off x="270419" y="2366880"/>
            <a:ext cx="91560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Shelter Node</a:t>
            </a:r>
            <a:endParaRPr lang="en-IN" sz="3600" b="1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6B6AE95C-171E-1963-F31A-9AF925C22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871" y="4118445"/>
            <a:ext cx="8591127" cy="387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Arduino UNO (or Nano)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Sensors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LoRa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IN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3200" dirty="0"/>
              <a:t>2S 18650 battery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2E60D72-C404-2378-F369-14A0E0F62609}"/>
              </a:ext>
            </a:extLst>
          </p:cNvPr>
          <p:cNvCxnSpPr>
            <a:stCxn id="19" idx="3"/>
          </p:cNvCxnSpPr>
          <p:nvPr/>
        </p:nvCxnSpPr>
        <p:spPr>
          <a:xfrm>
            <a:off x="9426449" y="2690046"/>
            <a:ext cx="122460" cy="6122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C8E52E5-742D-EAE6-2E0E-B58F62A1376D}"/>
              </a:ext>
            </a:extLst>
          </p:cNvPr>
          <p:cNvSpPr txBox="1"/>
          <p:nvPr/>
        </p:nvSpPr>
        <p:spPr>
          <a:xfrm>
            <a:off x="9831360" y="2366880"/>
            <a:ext cx="7384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HQ Node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FCAE0C-F247-CC52-1076-65F7549452A6}"/>
              </a:ext>
            </a:extLst>
          </p:cNvPr>
          <p:cNvSpPr txBox="1"/>
          <p:nvPr/>
        </p:nvSpPr>
        <p:spPr>
          <a:xfrm>
            <a:off x="147484" y="557025"/>
            <a:ext cx="163707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SYSTEM ARCHITECTURE</a:t>
            </a:r>
            <a:endParaRPr lang="en-IN" sz="7200" dirty="0">
              <a:solidFill>
                <a:schemeClr val="bg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DD447E3-8D88-75A6-FA4B-2C8CCDA7D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3812" y="3762271"/>
            <a:ext cx="8591127" cy="4551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Arduino Nano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LoRa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USB → Laptop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Serial Monitor display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Shelter Node  ~~~LoRa~~~&gt;  HQ Node  → Laptop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939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D8FB5-9C57-CDC9-0818-18B151204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F9DCB5C4-09F1-3BAA-265F-609DAB818768}"/>
              </a:ext>
            </a:extLst>
          </p:cNvPr>
          <p:cNvGrpSpPr/>
          <p:nvPr/>
        </p:nvGrpSpPr>
        <p:grpSpPr>
          <a:xfrm>
            <a:off x="8048854" y="752281"/>
            <a:ext cx="2190291" cy="809819"/>
            <a:chOff x="0" y="0"/>
            <a:chExt cx="2920388" cy="107975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2931C07-5CA3-18DA-4A9F-F6DA14B5F3A2}"/>
                </a:ext>
              </a:extLst>
            </p:cNvPr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9800299-8B5E-C1F1-149F-95B586CA6F60}"/>
                </a:ext>
              </a:extLst>
            </p:cNvPr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0A3B5B0-08FE-E4DD-6961-0D3571F59042}"/>
                </a:ext>
              </a:extLst>
            </p:cNvPr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B0B3B5AA-AE3C-BFD8-6C75-3455C0270252}"/>
              </a:ext>
            </a:extLst>
          </p:cNvPr>
          <p:cNvGrpSpPr/>
          <p:nvPr/>
        </p:nvGrpSpPr>
        <p:grpSpPr>
          <a:xfrm>
            <a:off x="28575" y="-163974"/>
            <a:ext cx="18288000" cy="2240687"/>
            <a:chOff x="0" y="-38100"/>
            <a:chExt cx="4816593" cy="59014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2235CA9-67C8-0AE0-91B9-9311BCBF22D9}"/>
                </a:ext>
              </a:extLst>
            </p:cNvPr>
            <p:cNvSpPr/>
            <p:nvPr/>
          </p:nvSpPr>
          <p:spPr>
            <a:xfrm>
              <a:off x="0" y="0"/>
              <a:ext cx="4816592" cy="552040"/>
            </a:xfrm>
            <a:custGeom>
              <a:avLst/>
              <a:gdLst/>
              <a:ahLst/>
              <a:cxnLst/>
              <a:rect l="l" t="t" r="r" b="b"/>
              <a:pathLst>
                <a:path w="4816592" h="552040">
                  <a:moveTo>
                    <a:pt x="0" y="0"/>
                  </a:moveTo>
                  <a:lnTo>
                    <a:pt x="4816592" y="0"/>
                  </a:lnTo>
                  <a:lnTo>
                    <a:pt x="4816592" y="552040"/>
                  </a:lnTo>
                  <a:lnTo>
                    <a:pt x="0" y="552040"/>
                  </a:lnTo>
                  <a:close/>
                </a:path>
              </a:pathLst>
            </a:custGeom>
            <a:solidFill>
              <a:srgbClr val="0063B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1CD77242-D2D3-610B-2608-E34CD354F22F}"/>
                </a:ext>
              </a:extLst>
            </p:cNvPr>
            <p:cNvSpPr txBox="1"/>
            <p:nvPr/>
          </p:nvSpPr>
          <p:spPr>
            <a:xfrm>
              <a:off x="0" y="-38100"/>
              <a:ext cx="4816593" cy="590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C3366B9E-68F9-A200-FEC0-169CA8527CAB}"/>
              </a:ext>
            </a:extLst>
          </p:cNvPr>
          <p:cNvGrpSpPr/>
          <p:nvPr/>
        </p:nvGrpSpPr>
        <p:grpSpPr>
          <a:xfrm>
            <a:off x="0" y="9617322"/>
            <a:ext cx="18288000" cy="669678"/>
            <a:chOff x="0" y="0"/>
            <a:chExt cx="4816593" cy="176376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1799FE66-085A-A1AB-21C2-D9D2629ED849}"/>
                </a:ext>
              </a:extLst>
            </p:cNvPr>
            <p:cNvSpPr/>
            <p:nvPr/>
          </p:nvSpPr>
          <p:spPr>
            <a:xfrm>
              <a:off x="0" y="0"/>
              <a:ext cx="4816592" cy="176376"/>
            </a:xfrm>
            <a:custGeom>
              <a:avLst/>
              <a:gdLst/>
              <a:ahLst/>
              <a:cxnLst/>
              <a:rect l="l" t="t" r="r" b="b"/>
              <a:pathLst>
                <a:path w="4816592" h="176376">
                  <a:moveTo>
                    <a:pt x="0" y="0"/>
                  </a:moveTo>
                  <a:lnTo>
                    <a:pt x="4816592" y="0"/>
                  </a:lnTo>
                  <a:lnTo>
                    <a:pt x="4816592" y="176376"/>
                  </a:lnTo>
                  <a:lnTo>
                    <a:pt x="0" y="176376"/>
                  </a:lnTo>
                  <a:close/>
                </a:path>
              </a:pathLst>
            </a:custGeom>
            <a:solidFill>
              <a:srgbClr val="0063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78D62BF-9C94-1F35-55F5-1D153046D1E3}"/>
                </a:ext>
              </a:extLst>
            </p:cNvPr>
            <p:cNvSpPr txBox="1"/>
            <p:nvPr/>
          </p:nvSpPr>
          <p:spPr>
            <a:xfrm>
              <a:off x="0" y="-38100"/>
              <a:ext cx="4816593" cy="214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E9114BE1-648F-CC8F-3EEE-C0726A6005FC}"/>
              </a:ext>
            </a:extLst>
          </p:cNvPr>
          <p:cNvSpPr/>
          <p:nvPr/>
        </p:nvSpPr>
        <p:spPr>
          <a:xfrm>
            <a:off x="16655390" y="9341478"/>
            <a:ext cx="1334649" cy="1189760"/>
          </a:xfrm>
          <a:custGeom>
            <a:avLst/>
            <a:gdLst/>
            <a:ahLst/>
            <a:cxnLst/>
            <a:rect l="l" t="t" r="r" b="b"/>
            <a:pathLst>
              <a:path w="1334649" h="1189760">
                <a:moveTo>
                  <a:pt x="0" y="0"/>
                </a:moveTo>
                <a:lnTo>
                  <a:pt x="1334650" y="0"/>
                </a:lnTo>
                <a:lnTo>
                  <a:pt x="1334650" y="1189760"/>
                </a:lnTo>
                <a:lnTo>
                  <a:pt x="0" y="1189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088" b="-60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DEEEBA-8E58-47BE-C061-8452CB23FDEE}"/>
              </a:ext>
            </a:extLst>
          </p:cNvPr>
          <p:cNvSpPr txBox="1"/>
          <p:nvPr/>
        </p:nvSpPr>
        <p:spPr>
          <a:xfrm>
            <a:off x="270419" y="2366880"/>
            <a:ext cx="91560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Why Arduino for Now</a:t>
            </a:r>
            <a:endParaRPr lang="en-IN" sz="3600" b="1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7B05F38B-062C-46C9-35FD-52414DF6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871" y="4112579"/>
            <a:ext cx="8591127" cy="3890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Already available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Simple &amp; stable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Sufficient for logic &amp; FSM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Lower power complexity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DFEE40C-0002-CD3A-5B31-B9E4F4B29EE8}"/>
              </a:ext>
            </a:extLst>
          </p:cNvPr>
          <p:cNvCxnSpPr>
            <a:stCxn id="19" idx="3"/>
          </p:cNvCxnSpPr>
          <p:nvPr/>
        </p:nvCxnSpPr>
        <p:spPr>
          <a:xfrm>
            <a:off x="9426449" y="2690046"/>
            <a:ext cx="122460" cy="6122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D79189B-823E-F272-4E2D-65F3DA08BBE0}"/>
              </a:ext>
            </a:extLst>
          </p:cNvPr>
          <p:cNvSpPr txBox="1"/>
          <p:nvPr/>
        </p:nvSpPr>
        <p:spPr>
          <a:xfrm>
            <a:off x="9831360" y="2366880"/>
            <a:ext cx="7384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ESP32 as Future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BBAA6F-136F-6FEA-E656-153288C47C2E}"/>
              </a:ext>
            </a:extLst>
          </p:cNvPr>
          <p:cNvSpPr txBox="1"/>
          <p:nvPr/>
        </p:nvSpPr>
        <p:spPr>
          <a:xfrm>
            <a:off x="147484" y="557025"/>
            <a:ext cx="163707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MICROCONTROLLER DECISION</a:t>
            </a:r>
            <a:endParaRPr lang="en-IN" sz="7200" dirty="0">
              <a:solidFill>
                <a:schemeClr val="bg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4584693-1BAA-2DA5-8B8C-F750E1E35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3812" y="4407641"/>
            <a:ext cx="7929265" cy="3261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Faster processing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600" dirty="0"/>
              <a:t>Deep sleep capability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600" dirty="0"/>
              <a:t>Sensor-triggered wake-up</a:t>
            </a: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50019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43DB2-DC66-659A-1F4F-CA9EEC3BE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13CA6E0A-9A1C-5BA5-D04B-D2B1FCF4D056}"/>
              </a:ext>
            </a:extLst>
          </p:cNvPr>
          <p:cNvGrpSpPr/>
          <p:nvPr/>
        </p:nvGrpSpPr>
        <p:grpSpPr>
          <a:xfrm>
            <a:off x="8048854" y="752281"/>
            <a:ext cx="2190291" cy="809819"/>
            <a:chOff x="0" y="0"/>
            <a:chExt cx="2920388" cy="107975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A484C2A-58F4-57CC-50B3-58104E415344}"/>
                </a:ext>
              </a:extLst>
            </p:cNvPr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F4215CA-1471-26D9-B38D-273361D8856D}"/>
                </a:ext>
              </a:extLst>
            </p:cNvPr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7532320-399D-8CBB-C531-F7E54662C49C}"/>
                </a:ext>
              </a:extLst>
            </p:cNvPr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A31C8C1-1AD5-B7C7-B843-DE397300B3CD}"/>
              </a:ext>
            </a:extLst>
          </p:cNvPr>
          <p:cNvGrpSpPr/>
          <p:nvPr/>
        </p:nvGrpSpPr>
        <p:grpSpPr>
          <a:xfrm>
            <a:off x="28575" y="-163974"/>
            <a:ext cx="18288000" cy="2240687"/>
            <a:chOff x="0" y="-38100"/>
            <a:chExt cx="4816593" cy="59014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6009245-9EDC-0D02-5F7E-E466193CD739}"/>
                </a:ext>
              </a:extLst>
            </p:cNvPr>
            <p:cNvSpPr/>
            <p:nvPr/>
          </p:nvSpPr>
          <p:spPr>
            <a:xfrm>
              <a:off x="0" y="0"/>
              <a:ext cx="4816592" cy="552040"/>
            </a:xfrm>
            <a:custGeom>
              <a:avLst/>
              <a:gdLst/>
              <a:ahLst/>
              <a:cxnLst/>
              <a:rect l="l" t="t" r="r" b="b"/>
              <a:pathLst>
                <a:path w="4816592" h="552040">
                  <a:moveTo>
                    <a:pt x="0" y="0"/>
                  </a:moveTo>
                  <a:lnTo>
                    <a:pt x="4816592" y="0"/>
                  </a:lnTo>
                  <a:lnTo>
                    <a:pt x="4816592" y="552040"/>
                  </a:lnTo>
                  <a:lnTo>
                    <a:pt x="0" y="552040"/>
                  </a:lnTo>
                  <a:close/>
                </a:path>
              </a:pathLst>
            </a:custGeom>
            <a:solidFill>
              <a:srgbClr val="0063B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1C0D9A52-FC18-5E83-0D10-E7C60D6D71FA}"/>
                </a:ext>
              </a:extLst>
            </p:cNvPr>
            <p:cNvSpPr txBox="1"/>
            <p:nvPr/>
          </p:nvSpPr>
          <p:spPr>
            <a:xfrm>
              <a:off x="0" y="-38100"/>
              <a:ext cx="4816593" cy="590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DA5FC3AF-06FF-9D81-8350-87EF1AB0269B}"/>
              </a:ext>
            </a:extLst>
          </p:cNvPr>
          <p:cNvGrpSpPr/>
          <p:nvPr/>
        </p:nvGrpSpPr>
        <p:grpSpPr>
          <a:xfrm>
            <a:off x="0" y="9617322"/>
            <a:ext cx="18288000" cy="669678"/>
            <a:chOff x="0" y="0"/>
            <a:chExt cx="4816593" cy="176376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279EA88-2D6C-5E7F-E611-27D6BC76EC4E}"/>
                </a:ext>
              </a:extLst>
            </p:cNvPr>
            <p:cNvSpPr/>
            <p:nvPr/>
          </p:nvSpPr>
          <p:spPr>
            <a:xfrm>
              <a:off x="0" y="0"/>
              <a:ext cx="4816592" cy="176376"/>
            </a:xfrm>
            <a:custGeom>
              <a:avLst/>
              <a:gdLst/>
              <a:ahLst/>
              <a:cxnLst/>
              <a:rect l="l" t="t" r="r" b="b"/>
              <a:pathLst>
                <a:path w="4816592" h="176376">
                  <a:moveTo>
                    <a:pt x="0" y="0"/>
                  </a:moveTo>
                  <a:lnTo>
                    <a:pt x="4816592" y="0"/>
                  </a:lnTo>
                  <a:lnTo>
                    <a:pt x="4816592" y="176376"/>
                  </a:lnTo>
                  <a:lnTo>
                    <a:pt x="0" y="176376"/>
                  </a:lnTo>
                  <a:close/>
                </a:path>
              </a:pathLst>
            </a:custGeom>
            <a:solidFill>
              <a:srgbClr val="0063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E4CA034-1A4C-0D9A-39C4-941BDA1D09C2}"/>
                </a:ext>
              </a:extLst>
            </p:cNvPr>
            <p:cNvSpPr txBox="1"/>
            <p:nvPr/>
          </p:nvSpPr>
          <p:spPr>
            <a:xfrm>
              <a:off x="0" y="-38100"/>
              <a:ext cx="4816593" cy="214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59B4C696-6496-FE1B-CD3C-7C01435473C9}"/>
              </a:ext>
            </a:extLst>
          </p:cNvPr>
          <p:cNvSpPr/>
          <p:nvPr/>
        </p:nvSpPr>
        <p:spPr>
          <a:xfrm>
            <a:off x="16655390" y="9341478"/>
            <a:ext cx="1334649" cy="1189760"/>
          </a:xfrm>
          <a:custGeom>
            <a:avLst/>
            <a:gdLst/>
            <a:ahLst/>
            <a:cxnLst/>
            <a:rect l="l" t="t" r="r" b="b"/>
            <a:pathLst>
              <a:path w="1334649" h="1189760">
                <a:moveTo>
                  <a:pt x="0" y="0"/>
                </a:moveTo>
                <a:lnTo>
                  <a:pt x="1334650" y="0"/>
                </a:lnTo>
                <a:lnTo>
                  <a:pt x="1334650" y="1189760"/>
                </a:lnTo>
                <a:lnTo>
                  <a:pt x="0" y="1189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088" b="-60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7838BA-F00C-0DD9-CD38-A6D39E5DA4FF}"/>
              </a:ext>
            </a:extLst>
          </p:cNvPr>
          <p:cNvSpPr txBox="1"/>
          <p:nvPr/>
        </p:nvSpPr>
        <p:spPr>
          <a:xfrm>
            <a:off x="270419" y="2366880"/>
            <a:ext cx="91560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Challenges Faced</a:t>
            </a:r>
            <a:endParaRPr lang="en-IN" sz="3600" b="1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DCFCB404-44AC-1DF2-D216-BE6F96E1B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871" y="4112580"/>
            <a:ext cx="8591127" cy="3890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Sensor false positives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/>
              <a:t>PIR limitations in crowded areas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Power regulation decisions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dirty="0"/>
              <a:t>Over-engineering risk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C845FE9-6D0D-1D24-673B-61B0AB4380EF}"/>
              </a:ext>
            </a:extLst>
          </p:cNvPr>
          <p:cNvCxnSpPr>
            <a:stCxn id="19" idx="3"/>
          </p:cNvCxnSpPr>
          <p:nvPr/>
        </p:nvCxnSpPr>
        <p:spPr>
          <a:xfrm>
            <a:off x="9426449" y="2690046"/>
            <a:ext cx="122460" cy="6122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00F350D-5CAC-664F-BF00-2D9B039B9D48}"/>
              </a:ext>
            </a:extLst>
          </p:cNvPr>
          <p:cNvSpPr txBox="1"/>
          <p:nvPr/>
        </p:nvSpPr>
        <p:spPr>
          <a:xfrm>
            <a:off x="9831360" y="2366880"/>
            <a:ext cx="7384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How We Addressed Them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8F77C6-1693-352F-7F15-7B8D7A7E17C8}"/>
              </a:ext>
            </a:extLst>
          </p:cNvPr>
          <p:cNvSpPr txBox="1"/>
          <p:nvPr/>
        </p:nvSpPr>
        <p:spPr>
          <a:xfrm>
            <a:off x="147484" y="557025"/>
            <a:ext cx="163707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CHALLENGES &amp; PITFALLS</a:t>
            </a:r>
            <a:endParaRPr lang="en-IN" sz="7200" dirty="0">
              <a:solidFill>
                <a:schemeClr val="bg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770A5F6-0F2F-DA02-0A1F-9EC868F26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3812" y="3853644"/>
            <a:ext cx="7929265" cy="4369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600" dirty="0"/>
              <a:t>Sensor fusion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600" dirty="0"/>
              <a:t>Entrance-only detection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600" dirty="0"/>
              <a:t>FSM-based logic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600" dirty="0"/>
              <a:t>Simple, explainable architecture</a:t>
            </a: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3939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00091-924E-B3A8-90B7-5761E68B6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D4133EF9-4FEF-AD06-8F96-E0D5E968D75C}"/>
              </a:ext>
            </a:extLst>
          </p:cNvPr>
          <p:cNvGrpSpPr/>
          <p:nvPr/>
        </p:nvGrpSpPr>
        <p:grpSpPr>
          <a:xfrm>
            <a:off x="8048854" y="752281"/>
            <a:ext cx="2190291" cy="809819"/>
            <a:chOff x="0" y="0"/>
            <a:chExt cx="2920388" cy="107975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9BA815A-732F-556F-C358-24F7B9D60DEF}"/>
                </a:ext>
              </a:extLst>
            </p:cNvPr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6DA1477-FF7F-C167-EC00-27A3D1AEA68D}"/>
                </a:ext>
              </a:extLst>
            </p:cNvPr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FAF7B40-DC73-EADB-0C04-6573AD50238F}"/>
                </a:ext>
              </a:extLst>
            </p:cNvPr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AA87289-1FB6-B637-88BD-95D7F549C00A}"/>
              </a:ext>
            </a:extLst>
          </p:cNvPr>
          <p:cNvGrpSpPr/>
          <p:nvPr/>
        </p:nvGrpSpPr>
        <p:grpSpPr>
          <a:xfrm>
            <a:off x="28575" y="-163974"/>
            <a:ext cx="18288000" cy="2240687"/>
            <a:chOff x="0" y="-38100"/>
            <a:chExt cx="4816593" cy="59014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F280335-D3E3-6227-C79E-A3D4BF7D1BC9}"/>
                </a:ext>
              </a:extLst>
            </p:cNvPr>
            <p:cNvSpPr/>
            <p:nvPr/>
          </p:nvSpPr>
          <p:spPr>
            <a:xfrm>
              <a:off x="0" y="0"/>
              <a:ext cx="4816592" cy="552040"/>
            </a:xfrm>
            <a:custGeom>
              <a:avLst/>
              <a:gdLst/>
              <a:ahLst/>
              <a:cxnLst/>
              <a:rect l="l" t="t" r="r" b="b"/>
              <a:pathLst>
                <a:path w="4816592" h="552040">
                  <a:moveTo>
                    <a:pt x="0" y="0"/>
                  </a:moveTo>
                  <a:lnTo>
                    <a:pt x="4816592" y="0"/>
                  </a:lnTo>
                  <a:lnTo>
                    <a:pt x="4816592" y="552040"/>
                  </a:lnTo>
                  <a:lnTo>
                    <a:pt x="0" y="552040"/>
                  </a:lnTo>
                  <a:close/>
                </a:path>
              </a:pathLst>
            </a:custGeom>
            <a:solidFill>
              <a:srgbClr val="0063B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228D3845-204A-3C40-3953-E22CEAE21340}"/>
                </a:ext>
              </a:extLst>
            </p:cNvPr>
            <p:cNvSpPr txBox="1"/>
            <p:nvPr/>
          </p:nvSpPr>
          <p:spPr>
            <a:xfrm>
              <a:off x="0" y="-38100"/>
              <a:ext cx="4816593" cy="590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A8D45F9-4A20-7C35-26A8-D37A971B328F}"/>
              </a:ext>
            </a:extLst>
          </p:cNvPr>
          <p:cNvGrpSpPr/>
          <p:nvPr/>
        </p:nvGrpSpPr>
        <p:grpSpPr>
          <a:xfrm>
            <a:off x="0" y="9617322"/>
            <a:ext cx="18288000" cy="669678"/>
            <a:chOff x="0" y="0"/>
            <a:chExt cx="4816593" cy="176376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9D59298-359C-A5B2-44FE-D6527B953553}"/>
                </a:ext>
              </a:extLst>
            </p:cNvPr>
            <p:cNvSpPr/>
            <p:nvPr/>
          </p:nvSpPr>
          <p:spPr>
            <a:xfrm>
              <a:off x="0" y="0"/>
              <a:ext cx="4816592" cy="176376"/>
            </a:xfrm>
            <a:custGeom>
              <a:avLst/>
              <a:gdLst/>
              <a:ahLst/>
              <a:cxnLst/>
              <a:rect l="l" t="t" r="r" b="b"/>
              <a:pathLst>
                <a:path w="4816592" h="176376">
                  <a:moveTo>
                    <a:pt x="0" y="0"/>
                  </a:moveTo>
                  <a:lnTo>
                    <a:pt x="4816592" y="0"/>
                  </a:lnTo>
                  <a:lnTo>
                    <a:pt x="4816592" y="176376"/>
                  </a:lnTo>
                  <a:lnTo>
                    <a:pt x="0" y="176376"/>
                  </a:lnTo>
                  <a:close/>
                </a:path>
              </a:pathLst>
            </a:custGeom>
            <a:solidFill>
              <a:srgbClr val="0063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EF65198D-FB80-6282-37B1-1AB5EDCA2C94}"/>
                </a:ext>
              </a:extLst>
            </p:cNvPr>
            <p:cNvSpPr txBox="1"/>
            <p:nvPr/>
          </p:nvSpPr>
          <p:spPr>
            <a:xfrm>
              <a:off x="0" y="-38100"/>
              <a:ext cx="4816593" cy="214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46C06C2C-E70D-C78B-5A6C-108B83EA47E8}"/>
              </a:ext>
            </a:extLst>
          </p:cNvPr>
          <p:cNvSpPr/>
          <p:nvPr/>
        </p:nvSpPr>
        <p:spPr>
          <a:xfrm>
            <a:off x="16655390" y="9341478"/>
            <a:ext cx="1334649" cy="1189760"/>
          </a:xfrm>
          <a:custGeom>
            <a:avLst/>
            <a:gdLst/>
            <a:ahLst/>
            <a:cxnLst/>
            <a:rect l="l" t="t" r="r" b="b"/>
            <a:pathLst>
              <a:path w="1334649" h="1189760">
                <a:moveTo>
                  <a:pt x="0" y="0"/>
                </a:moveTo>
                <a:lnTo>
                  <a:pt x="1334650" y="0"/>
                </a:lnTo>
                <a:lnTo>
                  <a:pt x="1334650" y="1189760"/>
                </a:lnTo>
                <a:lnTo>
                  <a:pt x="0" y="1189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088" b="-60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1874F4-7FD2-54C0-7CE9-AA42B353CDD2}"/>
              </a:ext>
            </a:extLst>
          </p:cNvPr>
          <p:cNvSpPr txBox="1"/>
          <p:nvPr/>
        </p:nvSpPr>
        <p:spPr>
          <a:xfrm>
            <a:off x="270419" y="2366880"/>
            <a:ext cx="91560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Project Timeline</a:t>
            </a:r>
            <a:endParaRPr lang="en-IN" sz="3600" b="1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6B296AA3-B6D9-E380-E434-7E087C7EA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871" y="3620139"/>
            <a:ext cx="8591127" cy="4875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b="1" dirty="0"/>
              <a:t>23 Feb</a:t>
            </a:r>
            <a:r>
              <a:rPr lang="en-IN" sz="3200" dirty="0"/>
              <a:t> – Component procurement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200" b="1" dirty="0"/>
              <a:t>Next week</a:t>
            </a:r>
            <a:r>
              <a:rPr lang="en-IN" sz="3200" dirty="0"/>
              <a:t> – Hardware assembly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a-DK" sz="3200" b="1" dirty="0"/>
              <a:t>Weekend (Sat–Sun)</a:t>
            </a:r>
            <a:r>
              <a:rPr lang="da-DK" sz="3200" dirty="0"/>
              <a:t> – Software integration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b="1" dirty="0"/>
              <a:t>After 29–30 Feb</a:t>
            </a:r>
            <a:r>
              <a:rPr lang="en-US" sz="3200" dirty="0"/>
              <a:t> – Final tuning &amp; validation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b="1" dirty="0"/>
              <a:t>Before 5 March</a:t>
            </a:r>
            <a:r>
              <a:rPr lang="en-US" sz="3200" dirty="0"/>
              <a:t> – Final demo &amp; review prep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068D0-8E0F-C2BA-CF4B-33086746E90A}"/>
              </a:ext>
            </a:extLst>
          </p:cNvPr>
          <p:cNvSpPr txBox="1"/>
          <p:nvPr/>
        </p:nvSpPr>
        <p:spPr>
          <a:xfrm>
            <a:off x="147484" y="557025"/>
            <a:ext cx="163707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TIMELINE</a:t>
            </a:r>
            <a:endParaRPr lang="en-IN" sz="7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125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671</Words>
  <Application>Microsoft Office PowerPoint</Application>
  <PresentationFormat>Custom</PresentationFormat>
  <Paragraphs>186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ITC Avant Garde Gothic</vt:lpstr>
      <vt:lpstr>TT Fors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K. Nithesh Kumar</dc:creator>
  <cp:lastModifiedBy>K. Nithesh Kumar</cp:lastModifiedBy>
  <cp:revision>1</cp:revision>
  <dcterms:modified xsi:type="dcterms:W3CDTF">2026-02-22T13:45:19Z</dcterms:modified>
</cp:coreProperties>
</file>